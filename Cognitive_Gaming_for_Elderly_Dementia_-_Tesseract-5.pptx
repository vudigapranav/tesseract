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7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224" y="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problem statement and the team. Keep this to fifteen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platform, three views. Gameplay is the measurement instrument: the patient plays, the app observes, the caregiver acts, the healthcare worker reviews.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chain left to right, then point at the offline band. Emphasise that the AI layer is explainable and that nothing in the chain requires a live network.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point of this slide is that the MVP is buildable in a hackathon cycle and that we are honest about the risks. Land on human-in-the-loop.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audiences, three kinds of value, then the system-level case for NER. Close on the four words.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read these out. Point at the LASI-DAD figure for the North Eastern states if a judge asks about scale.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jpeg"/><Relationship Id="rId2" Type="http://schemas.openxmlformats.org/officeDocument/2006/relationships/image" Target="../media/image1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hyperlink" Target="https://phaser.io/" TargetMode="External"/><Relationship Id="rId8" Type="http://schemas.openxmlformats.org/officeDocument/2006/relationships/hyperlink" Target="https://flame-engine.org/" TargetMode="External"/><Relationship Id="rId7" Type="http://schemas.openxmlformats.org/officeDocument/2006/relationships/hyperlink" Target="https://flutter.dev/" TargetMode="External"/><Relationship Id="rId6" Type="http://schemas.openxmlformats.org/officeDocument/2006/relationships/hyperlink" Target="https://doi.org/10.1002/14651858.CD005562.pub3" TargetMode="External"/><Relationship Id="rId5" Type="http://schemas.openxmlformats.org/officeDocument/2006/relationships/hyperlink" Target="https://ardsi.org/" TargetMode="External"/><Relationship Id="rId4" Type="http://schemas.openxmlformats.org/officeDocument/2006/relationships/hyperlink" Target="https://www.who.int/news-room/fact-sheets/detail/dementia" TargetMode="External"/><Relationship Id="rId3" Type="http://schemas.openxmlformats.org/officeDocument/2006/relationships/hyperlink" Target="https://alz-journals.onlinelibrary.wiley.com/doi/10.1002/alz.12928" TargetMode="External"/><Relationship Id="rId2" Type="http://schemas.openxmlformats.org/officeDocument/2006/relationships/image" Target="../media/image1.png"/><Relationship Id="rId18" Type="http://schemas.openxmlformats.org/officeDocument/2006/relationships/notesSlide" Target="../notesSlides/notesSlide6.xml"/><Relationship Id="rId17" Type="http://schemas.openxmlformats.org/officeDocument/2006/relationships/slideLayout" Target="../slideLayouts/slideLayout1.xml"/><Relationship Id="rId16" Type="http://schemas.openxmlformats.org/officeDocument/2006/relationships/hyperlink" Target="https://www.w3.org/TR/WCAG22/" TargetMode="External"/><Relationship Id="rId15" Type="http://schemas.openxmlformats.org/officeDocument/2006/relationships/hyperlink" Target="https://firebase.google.com/" TargetMode="External"/><Relationship Id="rId14" Type="http://schemas.openxmlformats.org/officeDocument/2006/relationships/hyperlink" Target="https://pub.dev/packages/hive" TargetMode="External"/><Relationship Id="rId13" Type="http://schemas.openxmlformats.org/officeDocument/2006/relationships/hyperlink" Target="https://sqlite.org/" TargetMode="External"/><Relationship Id="rId12" Type="http://schemas.openxmlformats.org/officeDocument/2006/relationships/hyperlink" Target="https://www.postgresql.org/" TargetMode="External"/><Relationship Id="rId11" Type="http://schemas.openxmlformats.org/officeDocument/2006/relationships/hyperlink" Target="https://fastapi.tiangolo.com/" TargetMode="External"/><Relationship Id="rId10" Type="http://schemas.openxmlformats.org/officeDocument/2006/relationships/hyperlink" Target="https://godotengine.org/" TargetMode="Externa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4687550" y="19050"/>
            <a:ext cx="3371850" cy="159067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>
            <a:alphaModFix amt="95000"/>
          </a:blip>
          <a:srcRect t="-12" b="-12"/>
          <a:stretch>
            <a:fillRect/>
          </a:stretch>
        </p:blipFill>
        <p:spPr>
          <a:xfrm>
            <a:off x="12668250" y="3143250"/>
            <a:ext cx="4000500" cy="45529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1500" y="457200"/>
            <a:ext cx="13235620" cy="8382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6000" b="1" dirty="0">
                <a:solidFill>
                  <a:srgbClr val="44546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SMART INDIA HACKATHON 2026</a:t>
            </a:r>
            <a:endParaRPr lang="en-US" sz="6000" dirty="0"/>
          </a:p>
        </p:txBody>
      </p:sp>
      <p:sp>
        <p:nvSpPr>
          <p:cNvPr id="5" name="Text 1"/>
          <p:cNvSpPr/>
          <p:nvPr/>
        </p:nvSpPr>
        <p:spPr>
          <a:xfrm>
            <a:off x="609600" y="1600200"/>
            <a:ext cx="2980603" cy="5191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300" b="1" kern="0" spc="150" dirty="0">
                <a:solidFill>
                  <a:srgbClr val="1F3864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TITLE PAGE</a:t>
            </a:r>
            <a:endParaRPr lang="en-US" sz="3300" dirty="0"/>
          </a:p>
        </p:txBody>
      </p:sp>
      <p:sp>
        <p:nvSpPr>
          <p:cNvPr id="6" name="Shape 2"/>
          <p:cNvSpPr/>
          <p:nvPr/>
        </p:nvSpPr>
        <p:spPr>
          <a:xfrm>
            <a:off x="609600" y="2209800"/>
            <a:ext cx="1905000" cy="47625"/>
          </a:xfrm>
          <a:prstGeom prst="rect">
            <a:avLst/>
          </a:prstGeom>
          <a:solidFill>
            <a:srgbClr val="0070C0"/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609600" y="2819400"/>
            <a:ext cx="4086225" cy="4000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0070C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Problem Statement ID</a:t>
            </a:r>
            <a:endParaRPr lang="en-US" sz="2475" dirty="0"/>
          </a:p>
        </p:txBody>
      </p:sp>
      <p:sp>
        <p:nvSpPr>
          <p:cNvPr id="8" name="Text 4"/>
          <p:cNvSpPr/>
          <p:nvPr/>
        </p:nvSpPr>
        <p:spPr>
          <a:xfrm>
            <a:off x="4591050" y="2819400"/>
            <a:ext cx="8507730" cy="4000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F386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SIH26003</a:t>
            </a:r>
            <a:endParaRPr lang="en-US" sz="2475" b="1" dirty="0">
              <a:solidFill>
                <a:srgbClr val="1F3864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  <a:p>
            <a:pPr marL="0" indent="0" algn="l">
              <a:buNone/>
            </a:pPr>
            <a:endParaRPr lang="en-US" sz="2475" dirty="0"/>
          </a:p>
        </p:txBody>
      </p:sp>
      <p:sp>
        <p:nvSpPr>
          <p:cNvPr id="9" name="Text 5"/>
          <p:cNvSpPr/>
          <p:nvPr/>
        </p:nvSpPr>
        <p:spPr>
          <a:xfrm>
            <a:off x="609600" y="3595688"/>
            <a:ext cx="4086225" cy="4000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0070C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Problem Statement Title</a:t>
            </a:r>
            <a:endParaRPr lang="en-US" sz="2475" dirty="0"/>
          </a:p>
        </p:txBody>
      </p:sp>
      <p:sp>
        <p:nvSpPr>
          <p:cNvPr id="10" name="Text 6"/>
          <p:cNvSpPr/>
          <p:nvPr/>
        </p:nvSpPr>
        <p:spPr>
          <a:xfrm>
            <a:off x="4591050" y="3581400"/>
            <a:ext cx="7966329" cy="1244947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2400" b="1" dirty="0">
                <a:solidFill>
                  <a:srgbClr val="1F386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AI-Based Cognitive Gaming and Memory Assistance Platform for Elderly Dementia Patients in the North Eastern Region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609600" y="5188297"/>
            <a:ext cx="4086225" cy="4000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0070C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Theme</a:t>
            </a:r>
            <a:endParaRPr lang="en-US" sz="2475" dirty="0"/>
          </a:p>
        </p:txBody>
      </p:sp>
      <p:sp>
        <p:nvSpPr>
          <p:cNvPr id="12" name="Text 8"/>
          <p:cNvSpPr/>
          <p:nvPr/>
        </p:nvSpPr>
        <p:spPr>
          <a:xfrm>
            <a:off x="4591050" y="5188297"/>
            <a:ext cx="8507730" cy="4000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F386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MedTech / BioTech / HealthTech</a:t>
            </a:r>
            <a:endParaRPr lang="en-US" sz="2475" dirty="0"/>
          </a:p>
        </p:txBody>
      </p:sp>
      <p:sp>
        <p:nvSpPr>
          <p:cNvPr id="13" name="Text 9"/>
          <p:cNvSpPr/>
          <p:nvPr/>
        </p:nvSpPr>
        <p:spPr>
          <a:xfrm>
            <a:off x="609600" y="5950297"/>
            <a:ext cx="4086225" cy="4000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0070C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PS Category</a:t>
            </a:r>
            <a:endParaRPr lang="en-US" sz="2475" dirty="0"/>
          </a:p>
        </p:txBody>
      </p:sp>
      <p:sp>
        <p:nvSpPr>
          <p:cNvPr id="14" name="Text 10"/>
          <p:cNvSpPr/>
          <p:nvPr/>
        </p:nvSpPr>
        <p:spPr>
          <a:xfrm>
            <a:off x="4632860" y="5950297"/>
            <a:ext cx="8507730" cy="4000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F386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Software</a:t>
            </a:r>
            <a:endParaRPr lang="en-US" sz="2475" dirty="0"/>
          </a:p>
        </p:txBody>
      </p:sp>
      <p:sp>
        <p:nvSpPr>
          <p:cNvPr id="15" name="Text 11"/>
          <p:cNvSpPr/>
          <p:nvPr/>
        </p:nvSpPr>
        <p:spPr>
          <a:xfrm>
            <a:off x="609600" y="6712297"/>
            <a:ext cx="4086225" cy="4000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0070C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Team ID</a:t>
            </a:r>
            <a:endParaRPr lang="en-US" sz="2475" dirty="0"/>
          </a:p>
        </p:txBody>
      </p:sp>
      <p:sp>
        <p:nvSpPr>
          <p:cNvPr id="16" name="Text 12"/>
          <p:cNvSpPr/>
          <p:nvPr/>
        </p:nvSpPr>
        <p:spPr>
          <a:xfrm>
            <a:off x="4591050" y="6712297"/>
            <a:ext cx="8507730" cy="4000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F386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—</a:t>
            </a:r>
            <a:endParaRPr lang="en-US" sz="2475" dirty="0"/>
          </a:p>
        </p:txBody>
      </p:sp>
      <p:sp>
        <p:nvSpPr>
          <p:cNvPr id="17" name="Text 13"/>
          <p:cNvSpPr/>
          <p:nvPr/>
        </p:nvSpPr>
        <p:spPr>
          <a:xfrm>
            <a:off x="609600" y="7474297"/>
            <a:ext cx="4086225" cy="4000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0070C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Team Name</a:t>
            </a:r>
            <a:endParaRPr lang="en-US" sz="2475" dirty="0"/>
          </a:p>
        </p:txBody>
      </p:sp>
      <p:sp>
        <p:nvSpPr>
          <p:cNvPr id="19" name="Shape 15"/>
          <p:cNvSpPr/>
          <p:nvPr/>
        </p:nvSpPr>
        <p:spPr>
          <a:xfrm>
            <a:off x="0" y="9534525"/>
            <a:ext cx="18288000" cy="752475"/>
          </a:xfrm>
          <a:prstGeom prst="rect">
            <a:avLst/>
          </a:prstGeom>
          <a:solidFill>
            <a:srgbClr val="0070C0"/>
          </a:solidFill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4794250" y="9678035"/>
            <a:ext cx="9574530" cy="4800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25000"/>
          </a:bodyPr>
          <a:lstStyle/>
          <a:p>
            <a:pPr marL="0" indent="0" algn="l">
              <a:buNone/>
            </a:pPr>
            <a:r>
              <a:rPr lang="en-US" sz="96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TESSERACT — Cognitive Gaming for Elderly &amp; Dementia Care</a:t>
            </a:r>
            <a:endParaRPr lang="en-US" sz="9600" dirty="0"/>
          </a:p>
        </p:txBody>
      </p:sp>
      <p:sp>
        <p:nvSpPr>
          <p:cNvPr id="21" name="Text 17"/>
          <p:cNvSpPr/>
          <p:nvPr/>
        </p:nvSpPr>
        <p:spPr>
          <a:xfrm>
            <a:off x="17779826" y="9779794"/>
            <a:ext cx="203374" cy="3000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en-US" sz="1800" dirty="0"/>
          </a:p>
        </p:txBody>
      </p:sp>
      <p:sp>
        <p:nvSpPr>
          <p:cNvPr id="23" name="Text 10"/>
          <p:cNvSpPr/>
          <p:nvPr/>
        </p:nvSpPr>
        <p:spPr>
          <a:xfrm>
            <a:off x="4591050" y="7433369"/>
            <a:ext cx="8507730" cy="4000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F386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Tesseract</a:t>
            </a:r>
            <a:endParaRPr lang="en-US" sz="24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Tesseract Badge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95300" y="509080"/>
            <a:ext cx="2210000" cy="791590"/>
          </a:xfrm>
          <a:prstGeom prst="rect">
            <a:avLst/>
          </a:prstGeom>
        </p:spPr>
      </p:pic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4687550" y="19050"/>
            <a:ext cx="3371850" cy="15906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62250" y="361950"/>
            <a:ext cx="3484751" cy="67151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1F3864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IDEA TITLE</a:t>
            </a:r>
            <a:endParaRPr lang="en-US" sz="4350" dirty="0"/>
          </a:p>
        </p:txBody>
      </p:sp>
      <p:sp>
        <p:nvSpPr>
          <p:cNvPr id="6" name="Text 3"/>
          <p:cNvSpPr/>
          <p:nvPr/>
        </p:nvSpPr>
        <p:spPr>
          <a:xfrm>
            <a:off x="2781300" y="1028700"/>
            <a:ext cx="7921727" cy="3333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b="1" u="sng" dirty="0">
                <a:solidFill>
                  <a:srgbClr val="0070C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Proposed Solution (Describe your Idea/Solution/Prototype)</a:t>
            </a:r>
            <a:endParaRPr lang="en-US" sz="2025" dirty="0"/>
          </a:p>
        </p:txBody>
      </p:sp>
      <p:sp>
        <p:nvSpPr>
          <p:cNvPr id="7" name="Shape 4"/>
          <p:cNvSpPr/>
          <p:nvPr/>
        </p:nvSpPr>
        <p:spPr>
          <a:xfrm>
            <a:off x="495300" y="1714500"/>
            <a:ext cx="12915900" cy="958453"/>
          </a:xfrm>
          <a:prstGeom prst="roundRect">
            <a:avLst>
              <a:gd name="adj" fmla="val 9938"/>
            </a:avLst>
          </a:prstGeom>
          <a:solidFill>
            <a:srgbClr val="EAF4FC"/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495300" y="1714500"/>
            <a:ext cx="76200" cy="958453"/>
          </a:xfrm>
          <a:prstGeom prst="rect">
            <a:avLst/>
          </a:prstGeom>
          <a:solidFill>
            <a:srgbClr val="0070C0"/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00100" y="1866900"/>
            <a:ext cx="12769977" cy="69175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950" dirty="0">
                <a:solidFill>
                  <a:srgbClr val="1F386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One offline-first app, three connected views: a joyful patient game space, a caregiver dashboard and a healthcare-worker review layer. Gameplay itself produces the signals that personalise the next activity.</a:t>
            </a:r>
            <a:endParaRPr lang="en-US" sz="1950" dirty="0"/>
          </a:p>
        </p:txBody>
      </p:sp>
      <p:sp>
        <p:nvSpPr>
          <p:cNvPr id="10" name="Shape 7"/>
          <p:cNvSpPr/>
          <p:nvPr/>
        </p:nvSpPr>
        <p:spPr>
          <a:xfrm>
            <a:off x="13601700" y="1714500"/>
            <a:ext cx="4191000" cy="958453"/>
          </a:xfrm>
          <a:prstGeom prst="roundRect">
            <a:avLst>
              <a:gd name="adj" fmla="val 9938"/>
            </a:avLst>
          </a:prstGeom>
          <a:solidFill>
            <a:srgbClr val="FEF4E3"/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3792200" y="1866900"/>
            <a:ext cx="3935730" cy="69175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7A4B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7.4% of Indians aged 60+ live with dementia — LASI-DAD, 2023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495300" y="3105150"/>
            <a:ext cx="4333875" cy="5271195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CE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14375" y="3305175"/>
            <a:ext cx="4012597" cy="632371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0070C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Detailed explanation of the proposed solution</a:t>
            </a:r>
            <a:endParaRPr lang="en-US" sz="1950" dirty="0"/>
          </a:p>
        </p:txBody>
      </p:sp>
      <p:sp>
        <p:nvSpPr>
          <p:cNvPr id="14" name="Shape 11"/>
          <p:cNvSpPr/>
          <p:nvPr/>
        </p:nvSpPr>
        <p:spPr>
          <a:xfrm>
            <a:off x="714375" y="3956596"/>
            <a:ext cx="3895725" cy="19050"/>
          </a:xfrm>
          <a:prstGeom prst="rect">
            <a:avLst/>
          </a:prstGeom>
          <a:solidFill>
            <a:srgbClr val="EEF2F8"/>
          </a:solidFill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63905" y="4108996"/>
            <a:ext cx="3956780" cy="984424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160020" indent="-160020" algn="l">
              <a:lnSpc>
                <a:spcPct val="120000"/>
              </a:lnSpc>
              <a:buSzPct val="100000"/>
              <a:buChar char="•"/>
            </a:pPr>
            <a:r>
              <a:rPr lang="en-US" sz="1800" dirty="0">
                <a:solidFill>
                  <a:srgbClr val="2231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Caregiver builds a </a:t>
            </a:r>
            <a:r>
              <a:rPr lang="en-US" sz="1800" b="1" dirty="0">
                <a:solidFill>
                  <a:srgbClr val="2231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“Know Me” </a:t>
            </a:r>
            <a:r>
              <a:rPr lang="en-US" sz="1800" dirty="0">
                <a:solidFill>
                  <a:srgbClr val="2231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profile: people, places, interests and 15–20 meaningful words.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763905" y="5150569"/>
            <a:ext cx="3956780" cy="984424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160020" indent="-160020" algn="l">
              <a:lnSpc>
                <a:spcPct val="120000"/>
              </a:lnSpc>
              <a:buSzPct val="100000"/>
              <a:buChar char="•"/>
            </a:pPr>
            <a:r>
              <a:rPr lang="en-US" sz="1800" dirty="0">
                <a:solidFill>
                  <a:srgbClr val="2231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 short </a:t>
            </a:r>
            <a:r>
              <a:rPr lang="en-US" sz="1800" b="1" dirty="0">
                <a:solidFill>
                  <a:srgbClr val="2231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baseline session </a:t>
            </a:r>
            <a:r>
              <a:rPr lang="en-US" sz="1800" dirty="0">
                <a:solidFill>
                  <a:srgbClr val="2231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sets an app-level performance profile — not a diagnosis.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763905" y="6192143"/>
            <a:ext cx="3956780" cy="984424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160020" indent="-160020" algn="l">
              <a:lnSpc>
                <a:spcPct val="12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2231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Nine games run offline, logging time, accuracy, errors, hints and route.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763905" y="7233717"/>
            <a:ext cx="3956780" cy="66898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160020" indent="-160020" algn="l">
              <a:lnSpc>
                <a:spcPct val="12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2231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Medicine, hydration and routine reminders sit beside the games.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5057775" y="3105150"/>
            <a:ext cx="4333875" cy="5271195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CE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 17"/>
          <p:cNvSpPr/>
          <p:nvPr/>
        </p:nvSpPr>
        <p:spPr>
          <a:xfrm>
            <a:off x="5276850" y="3305175"/>
            <a:ext cx="4012597" cy="6286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E9E5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How it addresses the problem</a:t>
            </a:r>
            <a:endParaRPr lang="en-US" sz="1950" dirty="0"/>
          </a:p>
        </p:txBody>
      </p:sp>
      <p:sp>
        <p:nvSpPr>
          <p:cNvPr id="21" name="Shape 18"/>
          <p:cNvSpPr/>
          <p:nvPr/>
        </p:nvSpPr>
        <p:spPr>
          <a:xfrm>
            <a:off x="5276850" y="3952875"/>
            <a:ext cx="3895725" cy="19050"/>
          </a:xfrm>
          <a:prstGeom prst="rect">
            <a:avLst/>
          </a:prstGeom>
          <a:solidFill>
            <a:srgbClr val="EEF2F8"/>
          </a:solidFill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5326380" y="4105275"/>
            <a:ext cx="3956780" cy="984424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160020" indent="-160020" algn="l">
              <a:lnSpc>
                <a:spcPct val="12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2231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Personalised, culturally familiar content replaces one-size-fits-all exercises.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5326380" y="5146849"/>
            <a:ext cx="3956780" cy="984424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160020" indent="-160020" algn="l">
              <a:lnSpc>
                <a:spcPct val="120000"/>
              </a:lnSpc>
              <a:buSzPct val="100000"/>
              <a:buChar char="•"/>
            </a:pPr>
            <a:r>
              <a:rPr lang="en-US" sz="1800" dirty="0">
                <a:solidFill>
                  <a:srgbClr val="2231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Difficulty follows observed performance: </a:t>
            </a:r>
            <a:r>
              <a:rPr lang="en-US" sz="1800" b="1" dirty="0">
                <a:solidFill>
                  <a:srgbClr val="2231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challenge and comfort </a:t>
            </a:r>
            <a:r>
              <a:rPr lang="en-US" sz="1800" dirty="0">
                <a:solidFill>
                  <a:srgbClr val="2231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, not maximum difficulty.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5326380" y="6188422"/>
            <a:ext cx="3956780" cy="984424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160020" indent="-160020" algn="l">
              <a:lnSpc>
                <a:spcPct val="12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2231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Caregivers get one clear recommendation a day, not scattered notes.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5326380" y="7229996"/>
            <a:ext cx="3956780" cy="984424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160020" indent="-160020" algn="l">
              <a:lnSpc>
                <a:spcPct val="12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2231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Runs on low-cost Android without a network, and syncs when one returns.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9620250" y="3105150"/>
            <a:ext cx="4333875" cy="5271195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CE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9839325" y="3305175"/>
            <a:ext cx="4012597" cy="632371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E8930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Innovation and uniqueness of the solution</a:t>
            </a:r>
            <a:endParaRPr lang="en-US" sz="1950" dirty="0"/>
          </a:p>
        </p:txBody>
      </p:sp>
      <p:sp>
        <p:nvSpPr>
          <p:cNvPr id="28" name="Shape 25"/>
          <p:cNvSpPr/>
          <p:nvPr/>
        </p:nvSpPr>
        <p:spPr>
          <a:xfrm>
            <a:off x="9839325" y="3956596"/>
            <a:ext cx="3895725" cy="19050"/>
          </a:xfrm>
          <a:prstGeom prst="rect">
            <a:avLst/>
          </a:prstGeom>
          <a:solidFill>
            <a:srgbClr val="EEF2F8"/>
          </a:solidFill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9888855" y="4108996"/>
            <a:ext cx="3956780" cy="984424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160020" indent="-160020" algn="l">
              <a:lnSpc>
                <a:spcPct val="120000"/>
              </a:lnSpc>
              <a:buSzPct val="100000"/>
              <a:buChar char="•"/>
            </a:pPr>
            <a:r>
              <a:rPr lang="en-US" sz="1800" dirty="0">
                <a:solidFill>
                  <a:srgbClr val="2231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Gameplay </a:t>
            </a:r>
            <a:r>
              <a:rPr lang="en-US" sz="1800" i="1" dirty="0">
                <a:solidFill>
                  <a:srgbClr val="2231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is </a:t>
            </a:r>
            <a:r>
              <a:rPr lang="en-US" sz="1800" dirty="0">
                <a:solidFill>
                  <a:srgbClr val="2231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measurement instrument — no separate test session.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9888855" y="5150569"/>
            <a:ext cx="3956780" cy="66898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160020" indent="-160020" algn="l">
              <a:lnSpc>
                <a:spcPct val="120000"/>
              </a:lnSpc>
              <a:buSzPct val="100000"/>
              <a:buChar char="•"/>
            </a:pPr>
            <a:r>
              <a:rPr lang="en-US" sz="1800" b="1" dirty="0">
                <a:solidFill>
                  <a:srgbClr val="2231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Clinical stage ≠ game difficulty. </a:t>
            </a:r>
            <a:r>
              <a:rPr lang="en-US" sz="1800" dirty="0">
                <a:solidFill>
                  <a:srgbClr val="2231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Difficulty is earned in play.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9888855" y="5876702"/>
            <a:ext cx="3956780" cy="984424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160020" indent="-160020" algn="l">
              <a:lnSpc>
                <a:spcPct val="12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2231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Word Search, Picture Recall and Route Quest use the patient’s own words and places.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9888855" y="6918275"/>
            <a:ext cx="3956780" cy="984424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160020" indent="-160020" algn="l">
              <a:lnSpc>
                <a:spcPct val="12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2231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recommends; a caregiver or healthcare worker approves or modifies.</a:t>
            </a:r>
            <a:endParaRPr lang="en-US" sz="1800" dirty="0"/>
          </a:p>
        </p:txBody>
      </p:sp>
      <p:sp>
        <p:nvSpPr>
          <p:cNvPr id="33" name="Shape 30"/>
          <p:cNvSpPr/>
          <p:nvPr/>
        </p:nvSpPr>
        <p:spPr>
          <a:xfrm>
            <a:off x="14182725" y="3105150"/>
            <a:ext cx="3609975" cy="5271195"/>
          </a:xfrm>
          <a:prstGeom prst="roundRect">
            <a:avLst>
              <a:gd name="adj" fmla="val 3694"/>
            </a:avLst>
          </a:prstGeom>
          <a:solidFill>
            <a:srgbClr val="F7F9FC"/>
          </a:solidFill>
          <a:ln w="9525">
            <a:solidFill>
              <a:srgbClr val="DCE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Image 1" descr="preencoded.png"/>
          <p:cNvPicPr>
            <a:picLocks noChangeAspect="1"/>
          </p:cNvPicPr>
          <p:nvPr/>
        </p:nvPicPr>
        <p:blipFill>
          <a:blip r:embed="rId3"/>
          <a:srcRect l="126" r="126"/>
          <a:stretch>
            <a:fillRect/>
          </a:stretch>
        </p:blipFill>
        <p:spPr>
          <a:xfrm>
            <a:off x="14344650" y="3267075"/>
            <a:ext cx="3286125" cy="3009900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14344650" y="6391275"/>
            <a:ext cx="3384709" cy="92950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44546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Patient view: </a:t>
            </a:r>
            <a:r>
              <a:rPr lang="en-US" sz="1800" b="1" dirty="0">
                <a:solidFill>
                  <a:srgbClr val="44546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Reveal Match Cards </a:t>
            </a:r>
            <a:r>
              <a:rPr lang="en-US" sz="1800" dirty="0">
                <a:solidFill>
                  <a:srgbClr val="44546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— large targets, no failure state.</a:t>
            </a:r>
            <a:endParaRPr lang="en-US" sz="1800" dirty="0"/>
          </a:p>
        </p:txBody>
      </p:sp>
      <p:sp>
        <p:nvSpPr>
          <p:cNvPr id="36" name="Shape 32"/>
          <p:cNvSpPr/>
          <p:nvPr/>
        </p:nvSpPr>
        <p:spPr>
          <a:xfrm>
            <a:off x="495300" y="8153400"/>
            <a:ext cx="17297400" cy="1047750"/>
          </a:xfrm>
          <a:prstGeom prst="roundRect">
            <a:avLst>
              <a:gd name="adj" fmla="val 12727"/>
            </a:avLst>
          </a:prstGeom>
          <a:solidFill>
            <a:srgbClr val="F4F8FC"/>
          </a:solidFill>
          <a:ln w="9525">
            <a:solidFill>
              <a:srgbClr val="DCE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3"/>
          <p:cNvSpPr/>
          <p:nvPr/>
        </p:nvSpPr>
        <p:spPr>
          <a:xfrm>
            <a:off x="714375" y="8296275"/>
            <a:ext cx="18545175" cy="25241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b="1" kern="0" spc="113" dirty="0">
                <a:solidFill>
                  <a:srgbClr val="7A8AA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PRODUCT LOOP</a:t>
            </a:r>
            <a:endParaRPr lang="en-US" sz="1500" dirty="0"/>
          </a:p>
        </p:txBody>
      </p:sp>
      <p:sp>
        <p:nvSpPr>
          <p:cNvPr id="38" name="Shape 34"/>
          <p:cNvSpPr/>
          <p:nvPr/>
        </p:nvSpPr>
        <p:spPr>
          <a:xfrm>
            <a:off x="714375" y="8605838"/>
            <a:ext cx="1631454" cy="452438"/>
          </a:xfrm>
          <a:prstGeom prst="roundRect">
            <a:avLst>
              <a:gd name="adj" fmla="val 16842"/>
            </a:avLst>
          </a:prstGeom>
          <a:solidFill>
            <a:srgbClr val="0070C0"/>
          </a:solidFill>
        </p:spPr>
        <p:txBody>
          <a:bodyPr/>
          <a:lstStyle/>
          <a:p>
            <a:endParaRPr lang="en-US"/>
          </a:p>
        </p:txBody>
      </p:sp>
      <p:sp>
        <p:nvSpPr>
          <p:cNvPr id="39" name="Text 35"/>
          <p:cNvSpPr/>
          <p:nvPr/>
        </p:nvSpPr>
        <p:spPr>
          <a:xfrm>
            <a:off x="695325" y="8701088"/>
            <a:ext cx="1669554" cy="3000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Know</a:t>
            </a:r>
            <a:endParaRPr lang="en-US" sz="1800" dirty="0"/>
          </a:p>
        </p:txBody>
      </p:sp>
      <p:sp>
        <p:nvSpPr>
          <p:cNvPr id="40" name="Text 36"/>
          <p:cNvSpPr/>
          <p:nvPr/>
        </p:nvSpPr>
        <p:spPr>
          <a:xfrm>
            <a:off x="2422029" y="8712994"/>
            <a:ext cx="146000" cy="2762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9BB0C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›</a:t>
            </a:r>
            <a:endParaRPr lang="en-US" sz="1650" dirty="0"/>
          </a:p>
        </p:txBody>
      </p:sp>
      <p:sp>
        <p:nvSpPr>
          <p:cNvPr id="41" name="Shape 37"/>
          <p:cNvSpPr/>
          <p:nvPr/>
        </p:nvSpPr>
        <p:spPr>
          <a:xfrm>
            <a:off x="2568029" y="8605838"/>
            <a:ext cx="1631528" cy="452438"/>
          </a:xfrm>
          <a:prstGeom prst="roundRect">
            <a:avLst>
              <a:gd name="adj" fmla="val 16842"/>
            </a:avLst>
          </a:prstGeom>
          <a:solidFill>
            <a:srgbClr val="1B84CC"/>
          </a:solidFill>
        </p:spPr>
        <p:txBody>
          <a:bodyPr/>
          <a:lstStyle/>
          <a:p>
            <a:endParaRPr lang="en-US"/>
          </a:p>
        </p:txBody>
      </p:sp>
      <p:sp>
        <p:nvSpPr>
          <p:cNvPr id="42" name="Text 38"/>
          <p:cNvSpPr/>
          <p:nvPr/>
        </p:nvSpPr>
        <p:spPr>
          <a:xfrm>
            <a:off x="2548979" y="8701088"/>
            <a:ext cx="1669628" cy="3000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Baseline</a:t>
            </a:r>
            <a:endParaRPr lang="en-US" sz="1800" dirty="0"/>
          </a:p>
        </p:txBody>
      </p:sp>
      <p:sp>
        <p:nvSpPr>
          <p:cNvPr id="43" name="Text 39"/>
          <p:cNvSpPr/>
          <p:nvPr/>
        </p:nvSpPr>
        <p:spPr>
          <a:xfrm>
            <a:off x="4275758" y="8712994"/>
            <a:ext cx="146000" cy="2762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9BB0C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›</a:t>
            </a:r>
            <a:endParaRPr lang="en-US" sz="1650" dirty="0"/>
          </a:p>
        </p:txBody>
      </p:sp>
      <p:sp>
        <p:nvSpPr>
          <p:cNvPr id="44" name="Shape 40"/>
          <p:cNvSpPr/>
          <p:nvPr/>
        </p:nvSpPr>
        <p:spPr>
          <a:xfrm>
            <a:off x="4421758" y="8605838"/>
            <a:ext cx="2029867" cy="452438"/>
          </a:xfrm>
          <a:prstGeom prst="roundRect">
            <a:avLst>
              <a:gd name="adj" fmla="val 16842"/>
            </a:avLst>
          </a:prstGeom>
          <a:solidFill>
            <a:srgbClr val="3697D6"/>
          </a:solidFill>
        </p:spPr>
        <p:txBody>
          <a:bodyPr/>
          <a:lstStyle/>
          <a:p>
            <a:endParaRPr lang="en-US"/>
          </a:p>
        </p:txBody>
      </p:sp>
      <p:sp>
        <p:nvSpPr>
          <p:cNvPr id="45" name="Text 41"/>
          <p:cNvSpPr/>
          <p:nvPr/>
        </p:nvSpPr>
        <p:spPr>
          <a:xfrm>
            <a:off x="4402708" y="8701088"/>
            <a:ext cx="2067967" cy="3000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Personalise</a:t>
            </a:r>
            <a:endParaRPr lang="en-US" sz="1800" dirty="0"/>
          </a:p>
        </p:txBody>
      </p:sp>
      <p:sp>
        <p:nvSpPr>
          <p:cNvPr id="46" name="Text 42"/>
          <p:cNvSpPr/>
          <p:nvPr/>
        </p:nvSpPr>
        <p:spPr>
          <a:xfrm>
            <a:off x="6527825" y="8712994"/>
            <a:ext cx="146000" cy="2762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9BB0C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›</a:t>
            </a:r>
            <a:endParaRPr lang="en-US" sz="1650" dirty="0"/>
          </a:p>
        </p:txBody>
      </p:sp>
      <p:sp>
        <p:nvSpPr>
          <p:cNvPr id="47" name="Shape 43"/>
          <p:cNvSpPr/>
          <p:nvPr/>
        </p:nvSpPr>
        <p:spPr>
          <a:xfrm>
            <a:off x="6673825" y="8605838"/>
            <a:ext cx="1631454" cy="452438"/>
          </a:xfrm>
          <a:prstGeom prst="roundRect">
            <a:avLst>
              <a:gd name="adj" fmla="val 16842"/>
            </a:avLst>
          </a:prstGeom>
          <a:solidFill>
            <a:srgbClr val="E8930C"/>
          </a:solidFill>
        </p:spPr>
        <p:txBody>
          <a:bodyPr/>
          <a:lstStyle/>
          <a:p>
            <a:endParaRPr lang="en-US"/>
          </a:p>
        </p:txBody>
      </p:sp>
      <p:sp>
        <p:nvSpPr>
          <p:cNvPr id="48" name="Text 44"/>
          <p:cNvSpPr/>
          <p:nvPr/>
        </p:nvSpPr>
        <p:spPr>
          <a:xfrm>
            <a:off x="6654775" y="8701088"/>
            <a:ext cx="1669554" cy="3000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Play</a:t>
            </a:r>
            <a:endParaRPr lang="en-US" sz="1800" dirty="0"/>
          </a:p>
        </p:txBody>
      </p:sp>
      <p:sp>
        <p:nvSpPr>
          <p:cNvPr id="49" name="Text 45"/>
          <p:cNvSpPr/>
          <p:nvPr/>
        </p:nvSpPr>
        <p:spPr>
          <a:xfrm>
            <a:off x="8381479" y="8712994"/>
            <a:ext cx="146000" cy="2762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9BB0C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›</a:t>
            </a:r>
            <a:endParaRPr lang="en-US" sz="1650" dirty="0"/>
          </a:p>
        </p:txBody>
      </p:sp>
      <p:sp>
        <p:nvSpPr>
          <p:cNvPr id="50" name="Shape 46"/>
          <p:cNvSpPr/>
          <p:nvPr/>
        </p:nvSpPr>
        <p:spPr>
          <a:xfrm>
            <a:off x="8527479" y="8605838"/>
            <a:ext cx="1631528" cy="452438"/>
          </a:xfrm>
          <a:prstGeom prst="roundRect">
            <a:avLst>
              <a:gd name="adj" fmla="val 16842"/>
            </a:avLst>
          </a:prstGeom>
          <a:solidFill>
            <a:srgbClr val="EFA435"/>
          </a:solidFill>
        </p:spPr>
        <p:txBody>
          <a:bodyPr/>
          <a:lstStyle/>
          <a:p>
            <a:endParaRPr lang="en-US"/>
          </a:p>
        </p:txBody>
      </p:sp>
      <p:sp>
        <p:nvSpPr>
          <p:cNvPr id="51" name="Text 47"/>
          <p:cNvSpPr/>
          <p:nvPr/>
        </p:nvSpPr>
        <p:spPr>
          <a:xfrm>
            <a:off x="8508429" y="8701088"/>
            <a:ext cx="1669628" cy="3000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Observe</a:t>
            </a:r>
            <a:endParaRPr lang="en-US" sz="1800" dirty="0"/>
          </a:p>
        </p:txBody>
      </p:sp>
      <p:sp>
        <p:nvSpPr>
          <p:cNvPr id="52" name="Text 48"/>
          <p:cNvSpPr/>
          <p:nvPr/>
        </p:nvSpPr>
        <p:spPr>
          <a:xfrm>
            <a:off x="10235208" y="8712994"/>
            <a:ext cx="146000" cy="2762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9BB0C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›</a:t>
            </a:r>
            <a:endParaRPr lang="en-US" sz="1650" dirty="0"/>
          </a:p>
        </p:txBody>
      </p:sp>
      <p:sp>
        <p:nvSpPr>
          <p:cNvPr id="53" name="Shape 49"/>
          <p:cNvSpPr/>
          <p:nvPr/>
        </p:nvSpPr>
        <p:spPr>
          <a:xfrm>
            <a:off x="10381208" y="8605838"/>
            <a:ext cx="1631454" cy="452438"/>
          </a:xfrm>
          <a:prstGeom prst="roundRect">
            <a:avLst>
              <a:gd name="adj" fmla="val 16842"/>
            </a:avLst>
          </a:prstGeom>
          <a:solidFill>
            <a:srgbClr val="2E9E5B"/>
          </a:solidFill>
        </p:spPr>
        <p:txBody>
          <a:bodyPr/>
          <a:lstStyle/>
          <a:p>
            <a:endParaRPr lang="en-US"/>
          </a:p>
        </p:txBody>
      </p:sp>
      <p:sp>
        <p:nvSpPr>
          <p:cNvPr id="54" name="Text 50"/>
          <p:cNvSpPr/>
          <p:nvPr/>
        </p:nvSpPr>
        <p:spPr>
          <a:xfrm>
            <a:off x="10362158" y="8701088"/>
            <a:ext cx="1669554" cy="3000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Analyse</a:t>
            </a:r>
            <a:endParaRPr lang="en-US" sz="1800" dirty="0"/>
          </a:p>
        </p:txBody>
      </p:sp>
      <p:sp>
        <p:nvSpPr>
          <p:cNvPr id="55" name="Text 51"/>
          <p:cNvSpPr/>
          <p:nvPr/>
        </p:nvSpPr>
        <p:spPr>
          <a:xfrm>
            <a:off x="12088862" y="8712994"/>
            <a:ext cx="146000" cy="2762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9BB0C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›</a:t>
            </a:r>
            <a:endParaRPr lang="en-US" sz="1650" dirty="0"/>
          </a:p>
        </p:txBody>
      </p:sp>
      <p:sp>
        <p:nvSpPr>
          <p:cNvPr id="56" name="Shape 52"/>
          <p:cNvSpPr/>
          <p:nvPr/>
        </p:nvSpPr>
        <p:spPr>
          <a:xfrm>
            <a:off x="12234863" y="8605838"/>
            <a:ext cx="1631454" cy="452438"/>
          </a:xfrm>
          <a:prstGeom prst="roundRect">
            <a:avLst>
              <a:gd name="adj" fmla="val 16842"/>
            </a:avLst>
          </a:prstGeom>
          <a:solidFill>
            <a:srgbClr val="45AC70"/>
          </a:solidFill>
        </p:spPr>
        <p:txBody>
          <a:bodyPr/>
          <a:lstStyle/>
          <a:p>
            <a:endParaRPr lang="en-US"/>
          </a:p>
        </p:txBody>
      </p:sp>
      <p:sp>
        <p:nvSpPr>
          <p:cNvPr id="57" name="Text 53"/>
          <p:cNvSpPr/>
          <p:nvPr/>
        </p:nvSpPr>
        <p:spPr>
          <a:xfrm>
            <a:off x="12215813" y="8701088"/>
            <a:ext cx="1669554" cy="3000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Adapt</a:t>
            </a:r>
            <a:endParaRPr lang="en-US" sz="1800" dirty="0"/>
          </a:p>
        </p:txBody>
      </p:sp>
      <p:sp>
        <p:nvSpPr>
          <p:cNvPr id="58" name="Text 54"/>
          <p:cNvSpPr/>
          <p:nvPr/>
        </p:nvSpPr>
        <p:spPr>
          <a:xfrm>
            <a:off x="13942516" y="8712994"/>
            <a:ext cx="146000" cy="2762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9BB0C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›</a:t>
            </a:r>
            <a:endParaRPr lang="en-US" sz="1650" dirty="0"/>
          </a:p>
        </p:txBody>
      </p:sp>
      <p:sp>
        <p:nvSpPr>
          <p:cNvPr id="59" name="Shape 55"/>
          <p:cNvSpPr/>
          <p:nvPr/>
        </p:nvSpPr>
        <p:spPr>
          <a:xfrm>
            <a:off x="14088517" y="8605838"/>
            <a:ext cx="1631454" cy="452438"/>
          </a:xfrm>
          <a:prstGeom prst="roundRect">
            <a:avLst>
              <a:gd name="adj" fmla="val 16842"/>
            </a:avLst>
          </a:prstGeom>
          <a:solidFill>
            <a:srgbClr val="5CB984"/>
          </a:solidFill>
        </p:spPr>
        <p:txBody>
          <a:bodyPr/>
          <a:lstStyle/>
          <a:p>
            <a:endParaRPr lang="en-US"/>
          </a:p>
        </p:txBody>
      </p:sp>
      <p:sp>
        <p:nvSpPr>
          <p:cNvPr id="60" name="Text 56"/>
          <p:cNvSpPr/>
          <p:nvPr/>
        </p:nvSpPr>
        <p:spPr>
          <a:xfrm>
            <a:off x="14069467" y="8701088"/>
            <a:ext cx="1669554" cy="3000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Assist</a:t>
            </a:r>
            <a:endParaRPr lang="en-US" sz="1800" dirty="0"/>
          </a:p>
        </p:txBody>
      </p:sp>
      <p:sp>
        <p:nvSpPr>
          <p:cNvPr id="61" name="Text 57"/>
          <p:cNvSpPr/>
          <p:nvPr/>
        </p:nvSpPr>
        <p:spPr>
          <a:xfrm>
            <a:off x="15796171" y="8712994"/>
            <a:ext cx="146000" cy="2762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9BB0C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›</a:t>
            </a:r>
            <a:endParaRPr lang="en-US" sz="1650" dirty="0"/>
          </a:p>
        </p:txBody>
      </p:sp>
      <p:sp>
        <p:nvSpPr>
          <p:cNvPr id="62" name="Shape 58"/>
          <p:cNvSpPr/>
          <p:nvPr/>
        </p:nvSpPr>
        <p:spPr>
          <a:xfrm>
            <a:off x="15942171" y="8605838"/>
            <a:ext cx="1631454" cy="452438"/>
          </a:xfrm>
          <a:prstGeom prst="roundRect">
            <a:avLst>
              <a:gd name="adj" fmla="val 16842"/>
            </a:avLst>
          </a:prstGeom>
          <a:solidFill>
            <a:srgbClr val="44546A"/>
          </a:solidFill>
        </p:spPr>
        <p:txBody>
          <a:bodyPr/>
          <a:lstStyle/>
          <a:p>
            <a:endParaRPr lang="en-US"/>
          </a:p>
        </p:txBody>
      </p:sp>
      <p:sp>
        <p:nvSpPr>
          <p:cNvPr id="63" name="Text 59"/>
          <p:cNvSpPr/>
          <p:nvPr/>
        </p:nvSpPr>
        <p:spPr>
          <a:xfrm>
            <a:off x="15923121" y="8701088"/>
            <a:ext cx="1669554" cy="3000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Monitor</a:t>
            </a:r>
            <a:endParaRPr lang="en-US" sz="1800" dirty="0"/>
          </a:p>
        </p:txBody>
      </p:sp>
      <p:sp>
        <p:nvSpPr>
          <p:cNvPr id="64" name="Shape 60"/>
          <p:cNvSpPr/>
          <p:nvPr/>
        </p:nvSpPr>
        <p:spPr>
          <a:xfrm>
            <a:off x="0" y="9534525"/>
            <a:ext cx="18288000" cy="752475"/>
          </a:xfrm>
          <a:prstGeom prst="rect">
            <a:avLst/>
          </a:prstGeom>
          <a:solidFill>
            <a:srgbClr val="0070C0"/>
          </a:solidFill>
        </p:spPr>
        <p:txBody>
          <a:bodyPr/>
          <a:lstStyle/>
          <a:p>
            <a:endParaRPr lang="en-US"/>
          </a:p>
        </p:txBody>
      </p:sp>
      <p:sp>
        <p:nvSpPr>
          <p:cNvPr id="65" name="Text 61"/>
          <p:cNvSpPr/>
          <p:nvPr/>
        </p:nvSpPr>
        <p:spPr>
          <a:xfrm>
            <a:off x="4422140" y="9693910"/>
            <a:ext cx="10250805" cy="56959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TESSERACT — Cognitive Gaming for Elderly &amp; Dementia Care</a:t>
            </a:r>
            <a:endParaRPr lang="en-US" sz="2400" dirty="0">
              <a:solidFill>
                <a:srgbClr val="FFFFFF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sp>
        <p:nvSpPr>
          <p:cNvPr id="66" name="Text 62"/>
          <p:cNvSpPr/>
          <p:nvPr/>
        </p:nvSpPr>
        <p:spPr>
          <a:xfrm>
            <a:off x="17779826" y="9779794"/>
            <a:ext cx="203374" cy="3000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Tesseract Badge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95300" y="509080"/>
            <a:ext cx="2210000" cy="791590"/>
          </a:xfrm>
          <a:prstGeom prst="rect">
            <a:avLst/>
          </a:prstGeom>
        </p:spPr>
      </p:pic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4687550" y="19050"/>
            <a:ext cx="3371850" cy="15906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62250" y="361950"/>
            <a:ext cx="7208684" cy="67151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1F3864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TECHNICAL APPROACH</a:t>
            </a:r>
            <a:endParaRPr lang="en-US" sz="4350" dirty="0"/>
          </a:p>
        </p:txBody>
      </p:sp>
      <p:sp>
        <p:nvSpPr>
          <p:cNvPr id="6" name="Text 3"/>
          <p:cNvSpPr/>
          <p:nvPr/>
        </p:nvSpPr>
        <p:spPr>
          <a:xfrm>
            <a:off x="2781300" y="1028700"/>
            <a:ext cx="9676790" cy="3333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b="1" u="sng" dirty="0">
                <a:solidFill>
                  <a:srgbClr val="0070C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Technologies to be used · Methodology and process for implementation</a:t>
            </a:r>
            <a:endParaRPr lang="en-US" sz="2025" dirty="0"/>
          </a:p>
        </p:txBody>
      </p:sp>
      <p:sp>
        <p:nvSpPr>
          <p:cNvPr id="7" name="Shape 4"/>
          <p:cNvSpPr/>
          <p:nvPr/>
        </p:nvSpPr>
        <p:spPr>
          <a:xfrm>
            <a:off x="495300" y="1809750"/>
            <a:ext cx="4953000" cy="7524750"/>
          </a:xfrm>
          <a:prstGeom prst="roundRect">
            <a:avLst>
              <a:gd name="adj" fmla="val 2692"/>
            </a:avLst>
          </a:prstGeom>
          <a:solidFill>
            <a:srgbClr val="F7F9FC"/>
          </a:solidFill>
          <a:ln w="9525">
            <a:solidFill>
              <a:srgbClr val="DCE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33425" y="2009775"/>
            <a:ext cx="4924425" cy="3238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070C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Technologies to be used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733425" y="2428875"/>
            <a:ext cx="4924425" cy="25241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b="1" kern="0" spc="75" dirty="0">
                <a:solidFill>
                  <a:srgbClr val="7A8AA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FRONTEND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33425" y="2643188"/>
            <a:ext cx="4924425" cy="3143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F386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Flutter (Android-first)</a:t>
            </a:r>
            <a:endParaRPr lang="en-US" sz="1875" dirty="0"/>
          </a:p>
        </p:txBody>
      </p:sp>
      <p:sp>
        <p:nvSpPr>
          <p:cNvPr id="11" name="Text 8"/>
          <p:cNvSpPr/>
          <p:nvPr/>
        </p:nvSpPr>
        <p:spPr>
          <a:xfrm>
            <a:off x="733425" y="3033713"/>
            <a:ext cx="4924425" cy="25241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b="1" kern="0" spc="75" dirty="0">
                <a:solidFill>
                  <a:srgbClr val="7A8AA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SIMPLE 2D GAMES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33425" y="3248025"/>
            <a:ext cx="4924425" cy="3143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F386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Flame / Flutter components</a:t>
            </a:r>
            <a:endParaRPr lang="en-US" sz="1875" dirty="0"/>
          </a:p>
        </p:txBody>
      </p:sp>
      <p:sp>
        <p:nvSpPr>
          <p:cNvPr id="13" name="Text 10"/>
          <p:cNvSpPr/>
          <p:nvPr/>
        </p:nvSpPr>
        <p:spPr>
          <a:xfrm>
            <a:off x="733425" y="3638550"/>
            <a:ext cx="4924425" cy="25241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b="1" kern="0" spc="75" dirty="0">
                <a:solidFill>
                  <a:srgbClr val="7A8AA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FLAGSHIP GAME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733425" y="3852863"/>
            <a:ext cx="4924425" cy="3143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F386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Phaser or Godot</a:t>
            </a:r>
            <a:endParaRPr lang="en-US" sz="1875" dirty="0"/>
          </a:p>
        </p:txBody>
      </p:sp>
      <p:sp>
        <p:nvSpPr>
          <p:cNvPr id="15" name="Text 12"/>
          <p:cNvSpPr/>
          <p:nvPr/>
        </p:nvSpPr>
        <p:spPr>
          <a:xfrm>
            <a:off x="733425" y="4243388"/>
            <a:ext cx="4924425" cy="25241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b="1" kern="0" spc="75" dirty="0">
                <a:solidFill>
                  <a:srgbClr val="7A8AA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BACKEND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733425" y="4457700"/>
            <a:ext cx="4924425" cy="3143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F386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Python + FastAPI</a:t>
            </a:r>
            <a:endParaRPr lang="en-US" sz="1875" dirty="0"/>
          </a:p>
        </p:txBody>
      </p:sp>
      <p:sp>
        <p:nvSpPr>
          <p:cNvPr id="17" name="Text 14"/>
          <p:cNvSpPr/>
          <p:nvPr/>
        </p:nvSpPr>
        <p:spPr>
          <a:xfrm>
            <a:off x="733425" y="4848225"/>
            <a:ext cx="4924425" cy="25241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b="1" kern="0" spc="75" dirty="0">
                <a:solidFill>
                  <a:srgbClr val="7A8AA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DATABASE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733425" y="5062538"/>
            <a:ext cx="4924425" cy="3143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F386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PostgreSQL</a:t>
            </a:r>
            <a:endParaRPr lang="en-US" sz="1875" dirty="0"/>
          </a:p>
        </p:txBody>
      </p:sp>
      <p:sp>
        <p:nvSpPr>
          <p:cNvPr id="19" name="Text 16"/>
          <p:cNvSpPr/>
          <p:nvPr/>
        </p:nvSpPr>
        <p:spPr>
          <a:xfrm>
            <a:off x="733425" y="5453063"/>
            <a:ext cx="4924425" cy="25241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b="1" kern="0" spc="75" dirty="0">
                <a:solidFill>
                  <a:srgbClr val="7A8AA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ON-DEVICE STORAGE</a:t>
            </a:r>
            <a:endParaRPr lang="en-US" sz="1500" dirty="0"/>
          </a:p>
        </p:txBody>
      </p:sp>
      <p:sp>
        <p:nvSpPr>
          <p:cNvPr id="2" name="Text 17"/>
          <p:cNvSpPr/>
          <p:nvPr/>
        </p:nvSpPr>
        <p:spPr>
          <a:xfrm>
            <a:off x="733425" y="5667375"/>
            <a:ext cx="4924425" cy="3143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F386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SQLite / Hive event queue</a:t>
            </a:r>
            <a:endParaRPr lang="en-US" sz="1875" dirty="0"/>
          </a:p>
        </p:txBody>
      </p:sp>
      <p:sp>
        <p:nvSpPr>
          <p:cNvPr id="21" name="Text 18"/>
          <p:cNvSpPr/>
          <p:nvPr/>
        </p:nvSpPr>
        <p:spPr>
          <a:xfrm>
            <a:off x="733425" y="6057900"/>
            <a:ext cx="4924425" cy="25241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b="1" kern="0" spc="75" dirty="0">
                <a:solidFill>
                  <a:srgbClr val="7A8AA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AUTH &amp; NOTIFICATIONS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733425" y="6272213"/>
            <a:ext cx="4924425" cy="3143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F386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Firebase</a:t>
            </a:r>
            <a:endParaRPr lang="en-US" sz="1875" dirty="0"/>
          </a:p>
        </p:txBody>
      </p:sp>
      <p:sp>
        <p:nvSpPr>
          <p:cNvPr id="23" name="Text 20"/>
          <p:cNvSpPr/>
          <p:nvPr/>
        </p:nvSpPr>
        <p:spPr>
          <a:xfrm>
            <a:off x="733425" y="6662738"/>
            <a:ext cx="4924425" cy="25241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b="1" kern="0" spc="75" dirty="0">
                <a:solidFill>
                  <a:srgbClr val="7A8AA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/ ANALYTICS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733425" y="6877050"/>
            <a:ext cx="4611052" cy="5905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F386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Python analytics &amp; recommendation engine</a:t>
            </a:r>
            <a:endParaRPr lang="en-US" sz="1875" dirty="0"/>
          </a:p>
        </p:txBody>
      </p:sp>
      <p:sp>
        <p:nvSpPr>
          <p:cNvPr id="25" name="Shape 22"/>
          <p:cNvSpPr/>
          <p:nvPr/>
        </p:nvSpPr>
        <p:spPr>
          <a:xfrm>
            <a:off x="733425" y="7600950"/>
            <a:ext cx="4476750" cy="1158106"/>
          </a:xfrm>
          <a:prstGeom prst="roundRect">
            <a:avLst>
              <a:gd name="adj" fmla="val 8225"/>
            </a:avLst>
          </a:prstGeom>
          <a:solidFill>
            <a:srgbClr val="EAF7EF"/>
          </a:solidFill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885825" y="7734300"/>
            <a:ext cx="4306253" cy="92950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1D6B4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Games and content are modular — new games and language packs use the same event schema.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5676900" y="1809750"/>
            <a:ext cx="13327380" cy="3238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070C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Methodology and process for implementation</a:t>
            </a:r>
            <a:endParaRPr lang="en-US" sz="1950" dirty="0"/>
          </a:p>
        </p:txBody>
      </p:sp>
      <p:sp>
        <p:nvSpPr>
          <p:cNvPr id="28" name="Shape 25"/>
          <p:cNvSpPr/>
          <p:nvPr/>
        </p:nvSpPr>
        <p:spPr>
          <a:xfrm>
            <a:off x="5676900" y="2266950"/>
            <a:ext cx="2767013" cy="1578173"/>
          </a:xfrm>
          <a:prstGeom prst="roundRect">
            <a:avLst>
              <a:gd name="adj" fmla="val 7243"/>
            </a:avLst>
          </a:prstGeom>
          <a:solidFill>
            <a:srgbClr val="EAF4FC"/>
          </a:solidFill>
          <a:ln w="9525">
            <a:solidFill>
              <a:srgbClr val="BEDC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5838825" y="2409825"/>
            <a:ext cx="2687479" cy="25241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b="1" kern="0" spc="75" dirty="0">
                <a:solidFill>
                  <a:srgbClr val="0070C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01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5838825" y="2662238"/>
            <a:ext cx="2687479" cy="3009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Patient App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5838825" y="2963168"/>
            <a:ext cx="2519363" cy="5143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500" dirty="0">
                <a:solidFill>
                  <a:srgbClr val="4C5F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Flutter, large targets, voice prompts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8577263" y="2266950"/>
            <a:ext cx="158725" cy="1616273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9BB0C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›</a:t>
            </a:r>
            <a:endParaRPr lang="en-US" sz="1950" dirty="0"/>
          </a:p>
        </p:txBody>
      </p:sp>
      <p:sp>
        <p:nvSpPr>
          <p:cNvPr id="33" name="Shape 30"/>
          <p:cNvSpPr/>
          <p:nvPr/>
        </p:nvSpPr>
        <p:spPr>
          <a:xfrm>
            <a:off x="8793138" y="2266950"/>
            <a:ext cx="2767087" cy="1578173"/>
          </a:xfrm>
          <a:prstGeom prst="roundRect">
            <a:avLst>
              <a:gd name="adj" fmla="val 7243"/>
            </a:avLst>
          </a:prstGeom>
          <a:solidFill>
            <a:srgbClr val="EAF4FC"/>
          </a:solidFill>
          <a:ln w="9525">
            <a:solidFill>
              <a:srgbClr val="BEDC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8955063" y="2409825"/>
            <a:ext cx="2687561" cy="25241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b="1" kern="0" spc="75" dirty="0">
                <a:solidFill>
                  <a:srgbClr val="0070C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02</a:t>
            </a:r>
            <a:endParaRPr lang="en-US" sz="1500" dirty="0"/>
          </a:p>
        </p:txBody>
      </p:sp>
      <p:sp>
        <p:nvSpPr>
          <p:cNvPr id="35" name="Text 32"/>
          <p:cNvSpPr/>
          <p:nvPr/>
        </p:nvSpPr>
        <p:spPr>
          <a:xfrm>
            <a:off x="8955063" y="2662238"/>
            <a:ext cx="2519437" cy="563761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Game &amp; Interaction Layer</a:t>
            </a:r>
            <a:endParaRPr lang="en-US" sz="1800" dirty="0"/>
          </a:p>
        </p:txBody>
      </p:sp>
      <p:sp>
        <p:nvSpPr>
          <p:cNvPr id="36" name="Text 33"/>
          <p:cNvSpPr/>
          <p:nvPr/>
        </p:nvSpPr>
        <p:spPr>
          <a:xfrm>
            <a:off x="8955063" y="3225998"/>
            <a:ext cx="2519437" cy="5143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500" dirty="0">
                <a:solidFill>
                  <a:srgbClr val="4C5F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Flame; Phaser/Godot for Route Quest</a:t>
            </a:r>
            <a:endParaRPr lang="en-US" sz="1500" dirty="0"/>
          </a:p>
        </p:txBody>
      </p:sp>
      <p:sp>
        <p:nvSpPr>
          <p:cNvPr id="37" name="Text 34"/>
          <p:cNvSpPr/>
          <p:nvPr/>
        </p:nvSpPr>
        <p:spPr>
          <a:xfrm>
            <a:off x="11693575" y="2266950"/>
            <a:ext cx="158725" cy="1616273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9BB0C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›</a:t>
            </a:r>
            <a:endParaRPr lang="en-US" sz="1950" dirty="0"/>
          </a:p>
        </p:txBody>
      </p:sp>
      <p:sp>
        <p:nvSpPr>
          <p:cNvPr id="38" name="Shape 35"/>
          <p:cNvSpPr/>
          <p:nvPr/>
        </p:nvSpPr>
        <p:spPr>
          <a:xfrm>
            <a:off x="11909450" y="2266950"/>
            <a:ext cx="2767013" cy="1578173"/>
          </a:xfrm>
          <a:prstGeom prst="roundRect">
            <a:avLst>
              <a:gd name="adj" fmla="val 7243"/>
            </a:avLst>
          </a:prstGeom>
          <a:solidFill>
            <a:srgbClr val="EAF4FC"/>
          </a:solidFill>
          <a:ln w="9525">
            <a:solidFill>
              <a:srgbClr val="BEDC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12071375" y="2409825"/>
            <a:ext cx="2687479" cy="25241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b="1" kern="0" spc="75" dirty="0">
                <a:solidFill>
                  <a:srgbClr val="0070C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03</a:t>
            </a:r>
            <a:endParaRPr lang="en-US" sz="1500" dirty="0"/>
          </a:p>
        </p:txBody>
      </p:sp>
      <p:sp>
        <p:nvSpPr>
          <p:cNvPr id="40" name="Text 37"/>
          <p:cNvSpPr/>
          <p:nvPr/>
        </p:nvSpPr>
        <p:spPr>
          <a:xfrm>
            <a:off x="12071375" y="2662238"/>
            <a:ext cx="2519363" cy="563761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Event &amp; Performance Logger</a:t>
            </a:r>
            <a:endParaRPr lang="en-US" sz="1800" dirty="0"/>
          </a:p>
        </p:txBody>
      </p:sp>
      <p:sp>
        <p:nvSpPr>
          <p:cNvPr id="41" name="Text 38"/>
          <p:cNvSpPr/>
          <p:nvPr/>
        </p:nvSpPr>
        <p:spPr>
          <a:xfrm>
            <a:off x="12071375" y="3225998"/>
            <a:ext cx="2519363" cy="5143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500" dirty="0">
                <a:solidFill>
                  <a:srgbClr val="4C5F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SQLite / Hive, structured per session</a:t>
            </a:r>
            <a:endParaRPr lang="en-US" sz="1500" dirty="0"/>
          </a:p>
        </p:txBody>
      </p:sp>
      <p:sp>
        <p:nvSpPr>
          <p:cNvPr id="42" name="Text 39"/>
          <p:cNvSpPr/>
          <p:nvPr/>
        </p:nvSpPr>
        <p:spPr>
          <a:xfrm>
            <a:off x="14809812" y="2266950"/>
            <a:ext cx="158725" cy="1616273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9BB0C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›</a:t>
            </a:r>
            <a:endParaRPr lang="en-US" sz="1950" dirty="0"/>
          </a:p>
        </p:txBody>
      </p:sp>
      <p:sp>
        <p:nvSpPr>
          <p:cNvPr id="43" name="Shape 40"/>
          <p:cNvSpPr/>
          <p:nvPr/>
        </p:nvSpPr>
        <p:spPr>
          <a:xfrm>
            <a:off x="15025688" y="2266950"/>
            <a:ext cx="2767013" cy="1578173"/>
          </a:xfrm>
          <a:prstGeom prst="roundRect">
            <a:avLst>
              <a:gd name="adj" fmla="val 7243"/>
            </a:avLst>
          </a:prstGeom>
          <a:solidFill>
            <a:srgbClr val="FEF4E3"/>
          </a:solidFill>
          <a:ln w="9525">
            <a:solidFill>
              <a:srgbClr val="F3D6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15187613" y="2409825"/>
            <a:ext cx="2687479" cy="25241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b="1" kern="0" spc="75" dirty="0">
                <a:solidFill>
                  <a:srgbClr val="E8930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04</a:t>
            </a:r>
            <a:endParaRPr lang="en-US" sz="1500" dirty="0"/>
          </a:p>
        </p:txBody>
      </p:sp>
      <p:sp>
        <p:nvSpPr>
          <p:cNvPr id="45" name="Text 42"/>
          <p:cNvSpPr/>
          <p:nvPr/>
        </p:nvSpPr>
        <p:spPr>
          <a:xfrm>
            <a:off x="15187613" y="2662238"/>
            <a:ext cx="2687479" cy="3009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/ Analytics Engine</a:t>
            </a:r>
            <a:endParaRPr lang="en-US" sz="1800" dirty="0"/>
          </a:p>
        </p:txBody>
      </p:sp>
      <p:sp>
        <p:nvSpPr>
          <p:cNvPr id="46" name="Text 43"/>
          <p:cNvSpPr/>
          <p:nvPr/>
        </p:nvSpPr>
        <p:spPr>
          <a:xfrm>
            <a:off x="15187613" y="2963168"/>
            <a:ext cx="2519363" cy="5143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500" dirty="0">
                <a:solidFill>
                  <a:srgbClr val="4C5F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Features → performance profile</a:t>
            </a:r>
            <a:endParaRPr lang="en-US" sz="1500" dirty="0"/>
          </a:p>
        </p:txBody>
      </p:sp>
      <p:sp>
        <p:nvSpPr>
          <p:cNvPr id="47" name="Shape 44"/>
          <p:cNvSpPr/>
          <p:nvPr/>
        </p:nvSpPr>
        <p:spPr>
          <a:xfrm>
            <a:off x="5676900" y="3997523"/>
            <a:ext cx="2901925" cy="1578173"/>
          </a:xfrm>
          <a:prstGeom prst="roundRect">
            <a:avLst>
              <a:gd name="adj" fmla="val 7243"/>
            </a:avLst>
          </a:prstGeom>
          <a:solidFill>
            <a:srgbClr val="FEF4E3"/>
          </a:solidFill>
          <a:ln w="9525">
            <a:solidFill>
              <a:srgbClr val="F3D6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/>
          <p:nvPr/>
        </p:nvSpPr>
        <p:spPr>
          <a:xfrm>
            <a:off x="5838825" y="4140398"/>
            <a:ext cx="2835883" cy="25241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b="1" kern="0" spc="75" dirty="0">
                <a:solidFill>
                  <a:srgbClr val="E8930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05</a:t>
            </a:r>
            <a:endParaRPr lang="en-US" sz="1500" dirty="0"/>
          </a:p>
        </p:txBody>
      </p:sp>
      <p:sp>
        <p:nvSpPr>
          <p:cNvPr id="49" name="Text 46"/>
          <p:cNvSpPr/>
          <p:nvPr/>
        </p:nvSpPr>
        <p:spPr>
          <a:xfrm>
            <a:off x="5838825" y="4392811"/>
            <a:ext cx="2655417" cy="563761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Recommendation &amp; Adaptive Difficulty</a:t>
            </a:r>
            <a:endParaRPr lang="en-US" sz="1800" dirty="0"/>
          </a:p>
        </p:txBody>
      </p:sp>
      <p:sp>
        <p:nvSpPr>
          <p:cNvPr id="50" name="Text 47"/>
          <p:cNvSpPr/>
          <p:nvPr/>
        </p:nvSpPr>
        <p:spPr>
          <a:xfrm>
            <a:off x="5838825" y="4956572"/>
            <a:ext cx="2655417" cy="5143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500" dirty="0">
                <a:solidFill>
                  <a:srgbClr val="4C5F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Next game, next level, support level</a:t>
            </a:r>
            <a:endParaRPr lang="en-US" sz="1500" dirty="0"/>
          </a:p>
        </p:txBody>
      </p:sp>
      <p:sp>
        <p:nvSpPr>
          <p:cNvPr id="51" name="Text 48"/>
          <p:cNvSpPr/>
          <p:nvPr/>
        </p:nvSpPr>
        <p:spPr>
          <a:xfrm>
            <a:off x="8712175" y="3997523"/>
            <a:ext cx="158725" cy="1616273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9BB0C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›</a:t>
            </a:r>
            <a:endParaRPr lang="en-US" sz="1950" dirty="0"/>
          </a:p>
        </p:txBody>
      </p:sp>
      <p:sp>
        <p:nvSpPr>
          <p:cNvPr id="52" name="Shape 49"/>
          <p:cNvSpPr/>
          <p:nvPr/>
        </p:nvSpPr>
        <p:spPr>
          <a:xfrm>
            <a:off x="8928050" y="3997523"/>
            <a:ext cx="2902000" cy="1578173"/>
          </a:xfrm>
          <a:prstGeom prst="roundRect">
            <a:avLst>
              <a:gd name="adj" fmla="val 7243"/>
            </a:avLst>
          </a:prstGeom>
          <a:solidFill>
            <a:srgbClr val="EAF7EF"/>
          </a:solidFill>
          <a:ln w="9525">
            <a:solidFill>
              <a:srgbClr val="B6E0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0"/>
          <p:cNvSpPr/>
          <p:nvPr/>
        </p:nvSpPr>
        <p:spPr>
          <a:xfrm>
            <a:off x="9089975" y="4140398"/>
            <a:ext cx="2835965" cy="25241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b="1" kern="0" spc="75" dirty="0">
                <a:solidFill>
                  <a:srgbClr val="2E9E5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06</a:t>
            </a:r>
            <a:endParaRPr lang="en-US" sz="1500" dirty="0"/>
          </a:p>
        </p:txBody>
      </p:sp>
      <p:sp>
        <p:nvSpPr>
          <p:cNvPr id="54" name="Text 51"/>
          <p:cNvSpPr/>
          <p:nvPr/>
        </p:nvSpPr>
        <p:spPr>
          <a:xfrm>
            <a:off x="9089975" y="4392811"/>
            <a:ext cx="2835965" cy="3009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Caregiver Dashboard</a:t>
            </a:r>
            <a:endParaRPr lang="en-US" sz="1800" dirty="0"/>
          </a:p>
        </p:txBody>
      </p:sp>
      <p:sp>
        <p:nvSpPr>
          <p:cNvPr id="55" name="Text 52"/>
          <p:cNvSpPr/>
          <p:nvPr/>
        </p:nvSpPr>
        <p:spPr>
          <a:xfrm>
            <a:off x="9089975" y="4693741"/>
            <a:ext cx="2655494" cy="5143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500" dirty="0">
                <a:solidFill>
                  <a:srgbClr val="4C5F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Trends, reminders, observations</a:t>
            </a:r>
            <a:endParaRPr lang="en-US" sz="1500" dirty="0"/>
          </a:p>
        </p:txBody>
      </p:sp>
      <p:sp>
        <p:nvSpPr>
          <p:cNvPr id="56" name="Text 53"/>
          <p:cNvSpPr/>
          <p:nvPr/>
        </p:nvSpPr>
        <p:spPr>
          <a:xfrm>
            <a:off x="11963400" y="3997523"/>
            <a:ext cx="158725" cy="1616273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9BB0C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›</a:t>
            </a:r>
            <a:endParaRPr lang="en-US" sz="1950" dirty="0"/>
          </a:p>
        </p:txBody>
      </p:sp>
      <p:sp>
        <p:nvSpPr>
          <p:cNvPr id="57" name="Shape 54"/>
          <p:cNvSpPr/>
          <p:nvPr/>
        </p:nvSpPr>
        <p:spPr>
          <a:xfrm>
            <a:off x="12179275" y="3997523"/>
            <a:ext cx="2901925" cy="1578173"/>
          </a:xfrm>
          <a:prstGeom prst="roundRect">
            <a:avLst>
              <a:gd name="adj" fmla="val 7243"/>
            </a:avLst>
          </a:prstGeom>
          <a:solidFill>
            <a:srgbClr val="EAF7EF"/>
          </a:solidFill>
          <a:ln w="9525">
            <a:solidFill>
              <a:srgbClr val="B6E0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5"/>
          <p:cNvSpPr/>
          <p:nvPr/>
        </p:nvSpPr>
        <p:spPr>
          <a:xfrm>
            <a:off x="12341200" y="4140398"/>
            <a:ext cx="2835883" cy="25241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b="1" kern="0" spc="75" dirty="0">
                <a:solidFill>
                  <a:srgbClr val="2E9E5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07</a:t>
            </a:r>
            <a:endParaRPr lang="en-US" sz="1500" dirty="0"/>
          </a:p>
        </p:txBody>
      </p:sp>
      <p:sp>
        <p:nvSpPr>
          <p:cNvPr id="59" name="Text 56"/>
          <p:cNvSpPr/>
          <p:nvPr/>
        </p:nvSpPr>
        <p:spPr>
          <a:xfrm>
            <a:off x="12341200" y="4392811"/>
            <a:ext cx="2655417" cy="563761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Healthcare Worker Review</a:t>
            </a:r>
            <a:endParaRPr lang="en-US" sz="1800" dirty="0"/>
          </a:p>
        </p:txBody>
      </p:sp>
      <p:sp>
        <p:nvSpPr>
          <p:cNvPr id="60" name="Text 57"/>
          <p:cNvSpPr/>
          <p:nvPr/>
        </p:nvSpPr>
        <p:spPr>
          <a:xfrm>
            <a:off x="12341200" y="4956572"/>
            <a:ext cx="2655417" cy="5143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500" dirty="0">
                <a:solidFill>
                  <a:srgbClr val="4C5F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Longitudinal view, approve or modify</a:t>
            </a:r>
            <a:endParaRPr lang="en-US" sz="1500" dirty="0"/>
          </a:p>
        </p:txBody>
      </p:sp>
      <p:sp>
        <p:nvSpPr>
          <p:cNvPr id="61" name="Shape 58"/>
          <p:cNvSpPr/>
          <p:nvPr/>
        </p:nvSpPr>
        <p:spPr>
          <a:xfrm>
            <a:off x="5676900" y="5804297"/>
            <a:ext cx="12115800" cy="1085850"/>
          </a:xfrm>
          <a:prstGeom prst="roundRect">
            <a:avLst>
              <a:gd name="adj" fmla="val 10526"/>
            </a:avLst>
          </a:prstGeom>
          <a:solidFill>
            <a:srgbClr val="F7F9FC"/>
          </a:solidFill>
          <a:ln w="9525">
            <a:solidFill>
              <a:srgbClr val="DCE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59"/>
          <p:cNvSpPr/>
          <p:nvPr/>
        </p:nvSpPr>
        <p:spPr>
          <a:xfrm>
            <a:off x="5895975" y="5985272"/>
            <a:ext cx="12845415" cy="25241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b="1" kern="0" spc="113" dirty="0">
                <a:solidFill>
                  <a:srgbClr val="7A8AA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EVERY SESSION LOGS</a:t>
            </a:r>
            <a:endParaRPr lang="en-US" sz="1500" dirty="0"/>
          </a:p>
        </p:txBody>
      </p:sp>
      <p:sp>
        <p:nvSpPr>
          <p:cNvPr id="63" name="Shape 60"/>
          <p:cNvSpPr/>
          <p:nvPr/>
        </p:nvSpPr>
        <p:spPr>
          <a:xfrm>
            <a:off x="5895975" y="6294834"/>
            <a:ext cx="823392" cy="41433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CE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1"/>
          <p:cNvSpPr/>
          <p:nvPr/>
        </p:nvSpPr>
        <p:spPr>
          <a:xfrm>
            <a:off x="6057900" y="6371034"/>
            <a:ext cx="575742" cy="3000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F386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Time</a:t>
            </a:r>
            <a:endParaRPr lang="en-US" sz="1800" dirty="0"/>
          </a:p>
        </p:txBody>
      </p:sp>
      <p:sp>
        <p:nvSpPr>
          <p:cNvPr id="65" name="Shape 62"/>
          <p:cNvSpPr/>
          <p:nvPr/>
        </p:nvSpPr>
        <p:spPr>
          <a:xfrm>
            <a:off x="6814617" y="6294834"/>
            <a:ext cx="1263923" cy="41433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CE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3"/>
          <p:cNvSpPr/>
          <p:nvPr/>
        </p:nvSpPr>
        <p:spPr>
          <a:xfrm>
            <a:off x="6976542" y="6371034"/>
            <a:ext cx="1016273" cy="3000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F386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Accuracy</a:t>
            </a:r>
            <a:endParaRPr lang="en-US" sz="1800" dirty="0"/>
          </a:p>
        </p:txBody>
      </p:sp>
      <p:sp>
        <p:nvSpPr>
          <p:cNvPr id="67" name="Shape 64"/>
          <p:cNvSpPr/>
          <p:nvPr/>
        </p:nvSpPr>
        <p:spPr>
          <a:xfrm>
            <a:off x="8173789" y="6294834"/>
            <a:ext cx="946175" cy="41433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CE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5"/>
          <p:cNvSpPr/>
          <p:nvPr/>
        </p:nvSpPr>
        <p:spPr>
          <a:xfrm>
            <a:off x="8335714" y="6371034"/>
            <a:ext cx="698525" cy="3000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F386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Errors</a:t>
            </a:r>
            <a:endParaRPr lang="en-US" sz="1800" dirty="0"/>
          </a:p>
        </p:txBody>
      </p:sp>
      <p:sp>
        <p:nvSpPr>
          <p:cNvPr id="69" name="Shape 66"/>
          <p:cNvSpPr/>
          <p:nvPr/>
        </p:nvSpPr>
        <p:spPr>
          <a:xfrm>
            <a:off x="9215214" y="6294834"/>
            <a:ext cx="1047973" cy="41433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CE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7"/>
          <p:cNvSpPr/>
          <p:nvPr/>
        </p:nvSpPr>
        <p:spPr>
          <a:xfrm>
            <a:off x="9377139" y="6371034"/>
            <a:ext cx="800323" cy="3000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F386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Retries</a:t>
            </a:r>
            <a:endParaRPr lang="en-US" sz="1800" dirty="0"/>
          </a:p>
        </p:txBody>
      </p:sp>
      <p:sp>
        <p:nvSpPr>
          <p:cNvPr id="71" name="Shape 68"/>
          <p:cNvSpPr/>
          <p:nvPr/>
        </p:nvSpPr>
        <p:spPr>
          <a:xfrm>
            <a:off x="10358438" y="6294834"/>
            <a:ext cx="844674" cy="41433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CE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69"/>
          <p:cNvSpPr/>
          <p:nvPr/>
        </p:nvSpPr>
        <p:spPr>
          <a:xfrm>
            <a:off x="10520363" y="6371034"/>
            <a:ext cx="597024" cy="3000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F386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Hints</a:t>
            </a:r>
            <a:endParaRPr lang="en-US" sz="1800" dirty="0"/>
          </a:p>
        </p:txBody>
      </p:sp>
      <p:sp>
        <p:nvSpPr>
          <p:cNvPr id="73" name="Shape 70"/>
          <p:cNvSpPr/>
          <p:nvPr/>
        </p:nvSpPr>
        <p:spPr>
          <a:xfrm>
            <a:off x="11298362" y="6294834"/>
            <a:ext cx="1946151" cy="41433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CE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1"/>
          <p:cNvSpPr/>
          <p:nvPr/>
        </p:nvSpPr>
        <p:spPr>
          <a:xfrm>
            <a:off x="11460287" y="6371034"/>
            <a:ext cx="1698501" cy="3000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F386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Route efficiency</a:t>
            </a:r>
            <a:endParaRPr lang="en-US" sz="1800" dirty="0"/>
          </a:p>
        </p:txBody>
      </p:sp>
      <p:sp>
        <p:nvSpPr>
          <p:cNvPr id="75" name="Shape 72"/>
          <p:cNvSpPr/>
          <p:nvPr/>
        </p:nvSpPr>
        <p:spPr>
          <a:xfrm>
            <a:off x="13339763" y="6294834"/>
            <a:ext cx="1480170" cy="41433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CE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3"/>
          <p:cNvSpPr/>
          <p:nvPr/>
        </p:nvSpPr>
        <p:spPr>
          <a:xfrm>
            <a:off x="13501688" y="6371034"/>
            <a:ext cx="1232520" cy="3000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F386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Completion</a:t>
            </a:r>
            <a:endParaRPr lang="en-US" sz="1800" dirty="0"/>
          </a:p>
        </p:txBody>
      </p:sp>
      <p:sp>
        <p:nvSpPr>
          <p:cNvPr id="77" name="Shape 74"/>
          <p:cNvSpPr/>
          <p:nvPr/>
        </p:nvSpPr>
        <p:spPr>
          <a:xfrm>
            <a:off x="14915183" y="6294834"/>
            <a:ext cx="1620217" cy="41433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CE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5"/>
          <p:cNvSpPr/>
          <p:nvPr/>
        </p:nvSpPr>
        <p:spPr>
          <a:xfrm>
            <a:off x="15077108" y="6371034"/>
            <a:ext cx="1372567" cy="3000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F386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Engagement</a:t>
            </a:r>
            <a:endParaRPr lang="en-US" sz="1800" dirty="0"/>
          </a:p>
        </p:txBody>
      </p:sp>
      <p:sp>
        <p:nvSpPr>
          <p:cNvPr id="79" name="Shape 76"/>
          <p:cNvSpPr/>
          <p:nvPr/>
        </p:nvSpPr>
        <p:spPr>
          <a:xfrm>
            <a:off x="5676900" y="7099697"/>
            <a:ext cx="12115800" cy="1758851"/>
          </a:xfrm>
          <a:prstGeom prst="roundRect">
            <a:avLst>
              <a:gd name="adj" fmla="val 6499"/>
            </a:avLst>
          </a:prstGeom>
          <a:solidFill>
            <a:srgbClr val="0070C0"/>
          </a:solidFill>
        </p:spPr>
        <p:txBody>
          <a:bodyPr/>
          <a:lstStyle/>
          <a:p>
            <a:endParaRPr lang="en-US"/>
          </a:p>
        </p:txBody>
      </p:sp>
      <p:sp>
        <p:nvSpPr>
          <p:cNvPr id="80" name="Text 77"/>
          <p:cNvSpPr/>
          <p:nvPr/>
        </p:nvSpPr>
        <p:spPr>
          <a:xfrm>
            <a:off x="5886450" y="7271147"/>
            <a:ext cx="12866370" cy="25241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b="1" kern="0" spc="113" dirty="0">
                <a:solidFill>
                  <a:srgbClr val="FFFFFF">
                    <a:alpha val="85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OFFLINE-FIRST SYNCHRONISATION</a:t>
            </a:r>
            <a:endParaRPr lang="en-US" sz="1500" dirty="0"/>
          </a:p>
        </p:txBody>
      </p:sp>
      <p:sp>
        <p:nvSpPr>
          <p:cNvPr id="81" name="Shape 78"/>
          <p:cNvSpPr/>
          <p:nvPr/>
        </p:nvSpPr>
        <p:spPr>
          <a:xfrm>
            <a:off x="5886450" y="7580709"/>
            <a:ext cx="3695700" cy="1106388"/>
          </a:xfrm>
          <a:prstGeom prst="roundRect">
            <a:avLst>
              <a:gd name="adj" fmla="val 6887"/>
            </a:avLst>
          </a:prstGeom>
          <a:solidFill>
            <a:srgbClr val="FFFFFF">
              <a:alpha val="14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82" name="Text 79"/>
          <p:cNvSpPr/>
          <p:nvPr/>
        </p:nvSpPr>
        <p:spPr>
          <a:xfrm>
            <a:off x="6019800" y="7695009"/>
            <a:ext cx="3539871" cy="91588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Connected</a:t>
            </a:r>
            <a:endParaRPr lang="en-US" sz="1800" b="1" dirty="0">
              <a:solidFill>
                <a:srgbClr val="FFFFFF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  <a:p>
            <a:pPr marL="0" indent="0" algn="l">
              <a:lnSpc>
                <a:spcPct val="112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-120"/>
              </a:rPr>
              <a:t>Profile and content packs </a:t>
            </a:r>
            <a:endParaRPr lang="en-US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-120"/>
            </a:endParaRPr>
          </a:p>
          <a:p>
            <a:pPr marL="0" indent="0" algn="l">
              <a:lnSpc>
                <a:spcPct val="112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-120"/>
              </a:rPr>
              <a:t>download</a:t>
            </a:r>
            <a:endParaRPr lang="en-US" sz="1800" dirty="0"/>
          </a:p>
        </p:txBody>
      </p:sp>
      <p:sp>
        <p:nvSpPr>
          <p:cNvPr id="83" name="Text 80"/>
          <p:cNvSpPr/>
          <p:nvPr/>
        </p:nvSpPr>
        <p:spPr>
          <a:xfrm>
            <a:off x="9696450" y="8002935"/>
            <a:ext cx="152326" cy="3000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7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›</a:t>
            </a:r>
            <a:endParaRPr lang="en-US" sz="1800" dirty="0"/>
          </a:p>
        </p:txBody>
      </p:sp>
      <p:sp>
        <p:nvSpPr>
          <p:cNvPr id="84" name="Shape 81"/>
          <p:cNvSpPr/>
          <p:nvPr/>
        </p:nvSpPr>
        <p:spPr>
          <a:xfrm>
            <a:off x="9897582" y="7734300"/>
            <a:ext cx="3695774" cy="813792"/>
          </a:xfrm>
          <a:prstGeom prst="roundRect">
            <a:avLst>
              <a:gd name="adj" fmla="val 9364"/>
            </a:avLst>
          </a:prstGeom>
          <a:solidFill>
            <a:srgbClr val="FFFFFF">
              <a:alpha val="14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85" name="Text 82"/>
          <p:cNvSpPr/>
          <p:nvPr/>
        </p:nvSpPr>
        <p:spPr>
          <a:xfrm>
            <a:off x="10020226" y="7841307"/>
            <a:ext cx="3539948" cy="62329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Offline</a:t>
            </a:r>
            <a:endParaRPr lang="en-US" sz="1800" b="1" dirty="0">
              <a:solidFill>
                <a:srgbClr val="FFFFFF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  <a:p>
            <a:pPr marL="0" indent="0" algn="l">
              <a:lnSpc>
                <a:spcPct val="112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Games run, events queue locally</a:t>
            </a:r>
            <a:endParaRPr lang="en-US" sz="1800" dirty="0">
              <a:solidFill>
                <a:srgbClr val="FFFFFF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  <a:p>
            <a:pPr marL="0" indent="0" algn="l">
              <a:lnSpc>
                <a:spcPct val="112000"/>
              </a:lnSpc>
              <a:buNone/>
            </a:pPr>
            <a:endParaRPr lang="en-US" sz="1800" dirty="0"/>
          </a:p>
        </p:txBody>
      </p:sp>
      <p:sp>
        <p:nvSpPr>
          <p:cNvPr id="86" name="Text 83"/>
          <p:cNvSpPr/>
          <p:nvPr/>
        </p:nvSpPr>
        <p:spPr>
          <a:xfrm>
            <a:off x="13696950" y="8002935"/>
            <a:ext cx="152326" cy="3000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7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›</a:t>
            </a:r>
            <a:endParaRPr lang="en-US" sz="1800" dirty="0"/>
          </a:p>
        </p:txBody>
      </p:sp>
      <p:sp>
        <p:nvSpPr>
          <p:cNvPr id="87" name="Shape 84"/>
          <p:cNvSpPr/>
          <p:nvPr/>
        </p:nvSpPr>
        <p:spPr>
          <a:xfrm>
            <a:off x="13887376" y="7580709"/>
            <a:ext cx="3695774" cy="1106388"/>
          </a:xfrm>
          <a:prstGeom prst="roundRect">
            <a:avLst>
              <a:gd name="adj" fmla="val 6887"/>
            </a:avLst>
          </a:prstGeom>
          <a:solidFill>
            <a:srgbClr val="FFFFFF">
              <a:alpha val="14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88" name="Text 85"/>
          <p:cNvSpPr/>
          <p:nvPr/>
        </p:nvSpPr>
        <p:spPr>
          <a:xfrm>
            <a:off x="14020726" y="7695009"/>
            <a:ext cx="3539948" cy="91588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Reconnect</a:t>
            </a:r>
            <a:endParaRPr lang="en-US" sz="1800" b="1" dirty="0">
              <a:solidFill>
                <a:srgbClr val="FFFFFF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  <a:p>
            <a:pPr marL="0" indent="0" algn="l">
              <a:lnSpc>
                <a:spcPct val="112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-120"/>
              </a:rPr>
              <a:t>Encrypted sync, dashboard</a:t>
            </a:r>
            <a:endParaRPr lang="en-US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-120"/>
            </a:endParaRPr>
          </a:p>
          <a:p>
            <a:pPr marL="0" indent="0" algn="l">
              <a:lnSpc>
                <a:spcPct val="112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-120"/>
              </a:rPr>
              <a:t>updates</a:t>
            </a:r>
            <a:endParaRPr lang="en-US" sz="1800" dirty="0"/>
          </a:p>
        </p:txBody>
      </p:sp>
      <p:sp>
        <p:nvSpPr>
          <p:cNvPr id="89" name="Shape 86"/>
          <p:cNvSpPr/>
          <p:nvPr/>
        </p:nvSpPr>
        <p:spPr>
          <a:xfrm>
            <a:off x="0" y="9534525"/>
            <a:ext cx="18288000" cy="752475"/>
          </a:xfrm>
          <a:prstGeom prst="rect">
            <a:avLst/>
          </a:prstGeom>
          <a:solidFill>
            <a:srgbClr val="0070C0"/>
          </a:solidFill>
        </p:spPr>
        <p:txBody>
          <a:bodyPr/>
          <a:lstStyle/>
          <a:p>
            <a:endParaRPr lang="en-US"/>
          </a:p>
        </p:txBody>
      </p:sp>
      <p:sp>
        <p:nvSpPr>
          <p:cNvPr id="90" name="Text 87"/>
          <p:cNvSpPr/>
          <p:nvPr/>
        </p:nvSpPr>
        <p:spPr>
          <a:xfrm>
            <a:off x="4718685" y="9753600"/>
            <a:ext cx="10196195" cy="4978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TESSERACT — Cognitive Gaming for Elderly &amp; Dementia Care</a:t>
            </a:r>
            <a:endParaRPr lang="en-US" sz="2400" dirty="0"/>
          </a:p>
        </p:txBody>
      </p:sp>
      <p:sp>
        <p:nvSpPr>
          <p:cNvPr id="91" name="Text 88"/>
          <p:cNvSpPr/>
          <p:nvPr/>
        </p:nvSpPr>
        <p:spPr>
          <a:xfrm>
            <a:off x="17779826" y="9779794"/>
            <a:ext cx="203374" cy="3000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Tesseract Badge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95300" y="509080"/>
            <a:ext cx="2210000" cy="791590"/>
          </a:xfrm>
          <a:prstGeom prst="rect">
            <a:avLst/>
          </a:prstGeom>
        </p:spPr>
      </p:pic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4687550" y="19050"/>
            <a:ext cx="3371850" cy="15906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62250" y="361950"/>
            <a:ext cx="8713105" cy="67151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1F3864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FEASIBILITY AND VIABILITY</a:t>
            </a:r>
            <a:endParaRPr lang="en-US" sz="4350" dirty="0"/>
          </a:p>
        </p:txBody>
      </p:sp>
      <p:sp>
        <p:nvSpPr>
          <p:cNvPr id="6" name="Text 3"/>
          <p:cNvSpPr/>
          <p:nvPr/>
        </p:nvSpPr>
        <p:spPr>
          <a:xfrm>
            <a:off x="2781300" y="1028700"/>
            <a:ext cx="10202711" cy="3333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b="1" u="sng" dirty="0">
                <a:solidFill>
                  <a:srgbClr val="0070C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Feasibility · Potential challenges and risks · Strategies for overcoming them</a:t>
            </a:r>
            <a:endParaRPr lang="en-US" sz="2025" dirty="0"/>
          </a:p>
        </p:txBody>
      </p:sp>
      <p:sp>
        <p:nvSpPr>
          <p:cNvPr id="7" name="Shape 4"/>
          <p:cNvSpPr/>
          <p:nvPr/>
        </p:nvSpPr>
        <p:spPr>
          <a:xfrm>
            <a:off x="495300" y="1809750"/>
            <a:ext cx="6096000" cy="5048250"/>
          </a:xfrm>
          <a:prstGeom prst="roundRect">
            <a:avLst>
              <a:gd name="adj" fmla="val 2642"/>
            </a:avLst>
          </a:prstGeom>
          <a:solidFill>
            <a:srgbClr val="F7F9FC"/>
          </a:solidFill>
          <a:ln w="9525">
            <a:solidFill>
              <a:srgbClr val="DCE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33425" y="2009775"/>
            <a:ext cx="6181725" cy="3238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070C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Analysis of the feasibility of the idea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782955" y="2428875"/>
            <a:ext cx="5732526" cy="66898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160020" indent="-160020" algn="l">
              <a:lnSpc>
                <a:spcPct val="12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2231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Built on a mature open stack — Flutter, FastAPI, PostgreSQL — shippable in one hackathon cycle.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82955" y="3193107"/>
            <a:ext cx="5732526" cy="66898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160020" indent="-160020" algn="l">
              <a:lnSpc>
                <a:spcPct val="120000"/>
              </a:lnSpc>
              <a:buSzPct val="100000"/>
              <a:buChar char="•"/>
            </a:pPr>
            <a:r>
              <a:rPr lang="en-US" sz="1800" b="1" dirty="0">
                <a:solidFill>
                  <a:srgbClr val="2231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Phase 1 AI </a:t>
            </a:r>
            <a:r>
              <a:rPr lang="en-US" sz="1800" dirty="0">
                <a:solidFill>
                  <a:srgbClr val="2231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is a transparent weighted-feature engine; no training data needed on day one.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82955" y="3957340"/>
            <a:ext cx="5732526" cy="66898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160020" indent="-160020" algn="l">
              <a:lnSpc>
                <a:spcPct val="12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2231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Runs on entry-level Android devices already in households and health centres.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782955" y="4721572"/>
            <a:ext cx="5732526" cy="66898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160020" indent="-160020" algn="l">
              <a:lnSpc>
                <a:spcPct val="12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2231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Language packs and word lists are data, not code — a new region needs content, not a release.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6819900" y="1809750"/>
            <a:ext cx="10972800" cy="4935364"/>
          </a:xfrm>
          <a:prstGeom prst="roundRect">
            <a:avLst>
              <a:gd name="adj" fmla="val 2702"/>
            </a:avLst>
          </a:prstGeom>
          <a:ln w="9525">
            <a:solidFill>
              <a:srgbClr val="DCE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829425" y="1819275"/>
            <a:ext cx="5094759" cy="563835"/>
          </a:xfrm>
          <a:prstGeom prst="rect">
            <a:avLst/>
          </a:prstGeom>
          <a:solidFill>
            <a:srgbClr val="0070C0"/>
          </a:solidFill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019925" y="1952625"/>
            <a:ext cx="4866602" cy="33523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Potential challenge / risk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11924184" y="1819275"/>
            <a:ext cx="5858917" cy="563835"/>
          </a:xfrm>
          <a:prstGeom prst="rect">
            <a:avLst/>
          </a:prstGeom>
          <a:solidFill>
            <a:srgbClr val="0070C0"/>
          </a:solidFill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11924184" y="1819275"/>
            <a:ext cx="9525" cy="563835"/>
          </a:xfrm>
          <a:prstGeom prst="rect">
            <a:avLst/>
          </a:prstGeom>
          <a:solidFill>
            <a:srgbClr val="FFFFFF">
              <a:alpha val="3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12124209" y="1952625"/>
            <a:ext cx="5644159" cy="33523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Strategy for overcoming it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6829425" y="2383110"/>
            <a:ext cx="5094759" cy="870496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2" name="Shape 17"/>
          <p:cNvSpPr/>
          <p:nvPr/>
        </p:nvSpPr>
        <p:spPr>
          <a:xfrm>
            <a:off x="6829425" y="2383110"/>
            <a:ext cx="5094759" cy="9525"/>
          </a:xfrm>
          <a:prstGeom prst="rect">
            <a:avLst/>
          </a:prstGeom>
          <a:solidFill>
            <a:srgbClr val="EEF2F8"/>
          </a:solidFill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7019925" y="2525985"/>
            <a:ext cx="4866602" cy="632371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Intermittent connectivity </a:t>
            </a:r>
            <a:r>
              <a:rPr lang="en-US" sz="1800" dirty="0">
                <a:solidFill>
                  <a:srgbClr val="1F3864"/>
                </a:solidFill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across NER districts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11924184" y="2383110"/>
            <a:ext cx="5858917" cy="870496"/>
          </a:xfrm>
          <a:prstGeom prst="rect">
            <a:avLst/>
          </a:prstGeom>
          <a:solidFill>
            <a:srgbClr val="FBFCFE"/>
          </a:solidFill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11924184" y="2383110"/>
            <a:ext cx="5858917" cy="9525"/>
          </a:xfrm>
          <a:prstGeom prst="rect">
            <a:avLst/>
          </a:prstGeom>
          <a:solidFill>
            <a:srgbClr val="EEF2F8"/>
          </a:solidFill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11924184" y="2383110"/>
            <a:ext cx="9525" cy="870496"/>
          </a:xfrm>
          <a:prstGeom prst="rect">
            <a:avLst/>
          </a:prstGeom>
          <a:solidFill>
            <a:srgbClr val="EEF2F8"/>
          </a:solidFill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12124209" y="2525985"/>
            <a:ext cx="5644159" cy="632371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1F386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Offline-first by default; an encrypted local queue syncs when a network appears.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6829425" y="3253606"/>
            <a:ext cx="5094759" cy="870496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6829425" y="3253606"/>
            <a:ext cx="5094759" cy="9525"/>
          </a:xfrm>
          <a:prstGeom prst="rect">
            <a:avLst/>
          </a:prstGeom>
          <a:solidFill>
            <a:srgbClr val="EEF2F8"/>
          </a:solidFill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7019925" y="3396481"/>
            <a:ext cx="4866602" cy="632371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Language and script coverage </a:t>
            </a:r>
            <a:r>
              <a:rPr lang="en-US" sz="1800" dirty="0">
                <a:solidFill>
                  <a:srgbClr val="1F3864"/>
                </a:solidFill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beyond English and Hindi</a:t>
            </a:r>
            <a:endParaRPr lang="en-US" sz="1800" dirty="0"/>
          </a:p>
        </p:txBody>
      </p:sp>
      <p:sp>
        <p:nvSpPr>
          <p:cNvPr id="29" name="Shape 26"/>
          <p:cNvSpPr/>
          <p:nvPr/>
        </p:nvSpPr>
        <p:spPr>
          <a:xfrm>
            <a:off x="11924184" y="3253606"/>
            <a:ext cx="5858917" cy="870496"/>
          </a:xfrm>
          <a:prstGeom prst="rect">
            <a:avLst/>
          </a:prstGeom>
          <a:solidFill>
            <a:srgbClr val="FBFCFE"/>
          </a:solidFill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11924184" y="3253606"/>
            <a:ext cx="5858917" cy="9525"/>
          </a:xfrm>
          <a:prstGeom prst="rect">
            <a:avLst/>
          </a:prstGeom>
          <a:solidFill>
            <a:srgbClr val="EEF2F8"/>
          </a:solidFill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11924184" y="3253606"/>
            <a:ext cx="9525" cy="870496"/>
          </a:xfrm>
          <a:prstGeom prst="rect">
            <a:avLst/>
          </a:prstGeom>
          <a:solidFill>
            <a:srgbClr val="EEF2F8"/>
          </a:solidFill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12124209" y="3396481"/>
            <a:ext cx="5644159" cy="632371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1F386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Content-pack framework: Assamese, Bengali, Meitei, Khasi and Mizo added as packs.</a:t>
            </a:r>
            <a:endParaRPr lang="en-US" sz="1800" dirty="0"/>
          </a:p>
        </p:txBody>
      </p:sp>
      <p:sp>
        <p:nvSpPr>
          <p:cNvPr id="33" name="Shape 30"/>
          <p:cNvSpPr/>
          <p:nvPr/>
        </p:nvSpPr>
        <p:spPr>
          <a:xfrm>
            <a:off x="6829425" y="4124102"/>
            <a:ext cx="5094759" cy="870496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6829425" y="4124102"/>
            <a:ext cx="5094759" cy="9525"/>
          </a:xfrm>
          <a:prstGeom prst="rect">
            <a:avLst/>
          </a:prstGeom>
          <a:solidFill>
            <a:srgbClr val="EEF2F8"/>
          </a:solidFill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7019925" y="4266977"/>
            <a:ext cx="4866602" cy="632371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Elderly usability </a:t>
            </a:r>
            <a:r>
              <a:rPr lang="en-US" sz="1800" dirty="0">
                <a:solidFill>
                  <a:srgbClr val="1F3864"/>
                </a:solidFill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— fatigue and frustration</a:t>
            </a:r>
            <a:endParaRPr lang="en-US" sz="1800" dirty="0"/>
          </a:p>
        </p:txBody>
      </p:sp>
      <p:sp>
        <p:nvSpPr>
          <p:cNvPr id="36" name="Shape 33"/>
          <p:cNvSpPr/>
          <p:nvPr/>
        </p:nvSpPr>
        <p:spPr>
          <a:xfrm>
            <a:off x="11924184" y="4124102"/>
            <a:ext cx="5858917" cy="870496"/>
          </a:xfrm>
          <a:prstGeom prst="rect">
            <a:avLst/>
          </a:prstGeom>
          <a:solidFill>
            <a:srgbClr val="FBFCFE"/>
          </a:solidFill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11924184" y="4124102"/>
            <a:ext cx="5858917" cy="9525"/>
          </a:xfrm>
          <a:prstGeom prst="rect">
            <a:avLst/>
          </a:prstGeom>
          <a:solidFill>
            <a:srgbClr val="EEF2F8"/>
          </a:solidFill>
        </p:spPr>
        <p:txBody>
          <a:bodyPr/>
          <a:lstStyle/>
          <a:p>
            <a:endParaRPr lang="en-US"/>
          </a:p>
        </p:txBody>
      </p:sp>
      <p:sp>
        <p:nvSpPr>
          <p:cNvPr id="38" name="Shape 35"/>
          <p:cNvSpPr/>
          <p:nvPr/>
        </p:nvSpPr>
        <p:spPr>
          <a:xfrm>
            <a:off x="11924184" y="4124102"/>
            <a:ext cx="9525" cy="870496"/>
          </a:xfrm>
          <a:prstGeom prst="rect">
            <a:avLst/>
          </a:prstGeom>
          <a:solidFill>
            <a:srgbClr val="EEF2F8"/>
          </a:solidFill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12124209" y="4266977"/>
            <a:ext cx="5644159" cy="632371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1F386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Large targets, one action per screen, voice prompts, no failure states.</a:t>
            </a:r>
            <a:endParaRPr lang="en-US" sz="1800" dirty="0"/>
          </a:p>
        </p:txBody>
      </p:sp>
      <p:sp>
        <p:nvSpPr>
          <p:cNvPr id="40" name="Shape 37"/>
          <p:cNvSpPr/>
          <p:nvPr/>
        </p:nvSpPr>
        <p:spPr>
          <a:xfrm>
            <a:off x="6829425" y="4994597"/>
            <a:ext cx="5094759" cy="870496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41" name="Shape 38"/>
          <p:cNvSpPr/>
          <p:nvPr/>
        </p:nvSpPr>
        <p:spPr>
          <a:xfrm>
            <a:off x="6829425" y="4994597"/>
            <a:ext cx="5094759" cy="9525"/>
          </a:xfrm>
          <a:prstGeom prst="rect">
            <a:avLst/>
          </a:prstGeom>
          <a:solidFill>
            <a:srgbClr val="EEF2F8"/>
          </a:solidFill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7019925" y="5137472"/>
            <a:ext cx="4866602" cy="632371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Caregiver effort </a:t>
            </a:r>
            <a:r>
              <a:rPr lang="en-US" sz="1800" dirty="0">
                <a:solidFill>
                  <a:srgbClr val="1F3864"/>
                </a:solidFill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to enter “Know Me” data</a:t>
            </a:r>
            <a:endParaRPr lang="en-US" sz="1800" dirty="0"/>
          </a:p>
        </p:txBody>
      </p:sp>
      <p:sp>
        <p:nvSpPr>
          <p:cNvPr id="43" name="Shape 40"/>
          <p:cNvSpPr/>
          <p:nvPr/>
        </p:nvSpPr>
        <p:spPr>
          <a:xfrm>
            <a:off x="11924184" y="4994597"/>
            <a:ext cx="5858917" cy="870496"/>
          </a:xfrm>
          <a:prstGeom prst="rect">
            <a:avLst/>
          </a:prstGeom>
          <a:solidFill>
            <a:srgbClr val="FBFCFE"/>
          </a:solidFill>
        </p:spPr>
        <p:txBody>
          <a:bodyPr/>
          <a:lstStyle/>
          <a:p>
            <a:endParaRPr lang="en-US"/>
          </a:p>
        </p:txBody>
      </p:sp>
      <p:sp>
        <p:nvSpPr>
          <p:cNvPr id="44" name="Shape 41"/>
          <p:cNvSpPr/>
          <p:nvPr/>
        </p:nvSpPr>
        <p:spPr>
          <a:xfrm>
            <a:off x="11924184" y="4994597"/>
            <a:ext cx="5858917" cy="9525"/>
          </a:xfrm>
          <a:prstGeom prst="rect">
            <a:avLst/>
          </a:prstGeom>
          <a:solidFill>
            <a:srgbClr val="EEF2F8"/>
          </a:solidFill>
        </p:spPr>
        <p:txBody>
          <a:bodyPr/>
          <a:lstStyle/>
          <a:p>
            <a:endParaRPr lang="en-US"/>
          </a:p>
        </p:txBody>
      </p:sp>
      <p:sp>
        <p:nvSpPr>
          <p:cNvPr id="45" name="Shape 42"/>
          <p:cNvSpPr/>
          <p:nvPr/>
        </p:nvSpPr>
        <p:spPr>
          <a:xfrm>
            <a:off x="11924184" y="4994597"/>
            <a:ext cx="9525" cy="870496"/>
          </a:xfrm>
          <a:prstGeom prst="rect">
            <a:avLst/>
          </a:prstGeom>
          <a:solidFill>
            <a:srgbClr val="EEF2F8"/>
          </a:solidFill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12124209" y="5137472"/>
            <a:ext cx="5644159" cy="632371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1F386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Guided ten-minute setup with photo and voice capture; ASHA-assisted enrolment.</a:t>
            </a:r>
            <a:endParaRPr lang="en-US" sz="1800" dirty="0"/>
          </a:p>
        </p:txBody>
      </p:sp>
      <p:sp>
        <p:nvSpPr>
          <p:cNvPr id="47" name="Shape 44"/>
          <p:cNvSpPr/>
          <p:nvPr/>
        </p:nvSpPr>
        <p:spPr>
          <a:xfrm>
            <a:off x="6829425" y="5865093"/>
            <a:ext cx="5094759" cy="870496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48" name="Shape 45"/>
          <p:cNvSpPr/>
          <p:nvPr/>
        </p:nvSpPr>
        <p:spPr>
          <a:xfrm>
            <a:off x="6829425" y="5865093"/>
            <a:ext cx="5094759" cy="9525"/>
          </a:xfrm>
          <a:prstGeom prst="rect">
            <a:avLst/>
          </a:prstGeom>
          <a:solidFill>
            <a:srgbClr val="EEF2F8"/>
          </a:solidFill>
        </p:spPr>
        <p:txBody>
          <a:bodyPr/>
          <a:lstStyle/>
          <a:p>
            <a:endParaRPr lang="en-US"/>
          </a:p>
        </p:txBody>
      </p:sp>
      <p:sp>
        <p:nvSpPr>
          <p:cNvPr id="49" name="Text 46"/>
          <p:cNvSpPr/>
          <p:nvPr/>
        </p:nvSpPr>
        <p:spPr>
          <a:xfrm>
            <a:off x="7019925" y="6007968"/>
            <a:ext cx="4866602" cy="632371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Over-reading game scores </a:t>
            </a:r>
            <a:r>
              <a:rPr lang="en-US" sz="1800" dirty="0">
                <a:solidFill>
                  <a:srgbClr val="1F3864"/>
                </a:solidFill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as clinical results</a:t>
            </a:r>
            <a:endParaRPr lang="en-US" sz="1800" dirty="0"/>
          </a:p>
        </p:txBody>
      </p:sp>
      <p:sp>
        <p:nvSpPr>
          <p:cNvPr id="50" name="Shape 47"/>
          <p:cNvSpPr/>
          <p:nvPr/>
        </p:nvSpPr>
        <p:spPr>
          <a:xfrm>
            <a:off x="11924184" y="5865093"/>
            <a:ext cx="5858917" cy="870496"/>
          </a:xfrm>
          <a:prstGeom prst="rect">
            <a:avLst/>
          </a:prstGeom>
          <a:solidFill>
            <a:srgbClr val="FBFCFE"/>
          </a:solidFill>
        </p:spPr>
        <p:txBody>
          <a:bodyPr/>
          <a:lstStyle/>
          <a:p>
            <a:endParaRPr lang="en-US"/>
          </a:p>
        </p:txBody>
      </p:sp>
      <p:sp>
        <p:nvSpPr>
          <p:cNvPr id="51" name="Shape 48"/>
          <p:cNvSpPr/>
          <p:nvPr/>
        </p:nvSpPr>
        <p:spPr>
          <a:xfrm>
            <a:off x="11924184" y="5865093"/>
            <a:ext cx="5858917" cy="9525"/>
          </a:xfrm>
          <a:prstGeom prst="rect">
            <a:avLst/>
          </a:prstGeom>
          <a:solidFill>
            <a:srgbClr val="EEF2F8"/>
          </a:solidFill>
        </p:spPr>
        <p:txBody>
          <a:bodyPr/>
          <a:lstStyle/>
          <a:p>
            <a:endParaRPr lang="en-US"/>
          </a:p>
        </p:txBody>
      </p:sp>
      <p:sp>
        <p:nvSpPr>
          <p:cNvPr id="52" name="Shape 49"/>
          <p:cNvSpPr/>
          <p:nvPr/>
        </p:nvSpPr>
        <p:spPr>
          <a:xfrm>
            <a:off x="11924184" y="5865093"/>
            <a:ext cx="9525" cy="870496"/>
          </a:xfrm>
          <a:prstGeom prst="rect">
            <a:avLst/>
          </a:prstGeom>
          <a:solidFill>
            <a:srgbClr val="EEF2F8"/>
          </a:solidFill>
        </p:spPr>
        <p:txBody>
          <a:bodyPr/>
          <a:lstStyle/>
          <a:p>
            <a:endParaRPr lang="en-US"/>
          </a:p>
        </p:txBody>
      </p:sp>
      <p:sp>
        <p:nvSpPr>
          <p:cNvPr id="53" name="Text 50"/>
          <p:cNvSpPr/>
          <p:nvPr/>
        </p:nvSpPr>
        <p:spPr>
          <a:xfrm>
            <a:off x="12124209" y="6007968"/>
            <a:ext cx="5644159" cy="632371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1F386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App-level indicators only; no diagnostic claim; every output is human-reviewed.</a:t>
            </a:r>
            <a:endParaRPr lang="en-US" sz="1800" dirty="0"/>
          </a:p>
        </p:txBody>
      </p:sp>
      <p:sp>
        <p:nvSpPr>
          <p:cNvPr id="54" name="Shape 51"/>
          <p:cNvSpPr/>
          <p:nvPr/>
        </p:nvSpPr>
        <p:spPr>
          <a:xfrm>
            <a:off x="495300" y="7296150"/>
            <a:ext cx="10020300" cy="1557710"/>
          </a:xfrm>
          <a:prstGeom prst="roundRect">
            <a:avLst>
              <a:gd name="adj" fmla="val 7338"/>
            </a:avLst>
          </a:prstGeom>
          <a:solidFill>
            <a:srgbClr val="FEF4E3"/>
          </a:solidFill>
        </p:spPr>
        <p:txBody>
          <a:bodyPr/>
          <a:lstStyle/>
          <a:p>
            <a:endParaRPr lang="en-US"/>
          </a:p>
        </p:txBody>
      </p:sp>
      <p:sp>
        <p:nvSpPr>
          <p:cNvPr id="55" name="Text 52"/>
          <p:cNvSpPr/>
          <p:nvPr/>
        </p:nvSpPr>
        <p:spPr>
          <a:xfrm>
            <a:off x="704850" y="7467600"/>
            <a:ext cx="10561320" cy="25241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b="1" kern="0" spc="113" dirty="0">
                <a:solidFill>
                  <a:srgbClr val="B071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IMPLEMENTATION PHASING</a:t>
            </a:r>
            <a:endParaRPr lang="en-US" sz="1500" dirty="0"/>
          </a:p>
        </p:txBody>
      </p:sp>
      <p:sp>
        <p:nvSpPr>
          <p:cNvPr id="56" name="Text 53"/>
          <p:cNvSpPr/>
          <p:nvPr/>
        </p:nvSpPr>
        <p:spPr>
          <a:xfrm>
            <a:off x="704850" y="7777163"/>
            <a:ext cx="9889236" cy="943347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5F3E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Phase 1 </a:t>
            </a:r>
            <a:r>
              <a:rPr lang="en-US" sz="1800" dirty="0">
                <a:solidFill>
                  <a:srgbClr val="5F3E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— rule / weighted-feature engine over accuracy, time, errors, completion, hints, efficiency and engagement. </a:t>
            </a:r>
            <a:r>
              <a:rPr lang="en-US" sz="1800" b="1" dirty="0">
                <a:solidFill>
                  <a:srgbClr val="5F3E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Phase 2 </a:t>
            </a:r>
            <a:r>
              <a:rPr lang="en-US" sz="1800" dirty="0">
                <a:solidFill>
                  <a:srgbClr val="5F3E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— personalised ML recommendation once session data accumulates.</a:t>
            </a:r>
            <a:endParaRPr lang="en-US" sz="1800" dirty="0"/>
          </a:p>
        </p:txBody>
      </p:sp>
      <p:sp>
        <p:nvSpPr>
          <p:cNvPr id="57" name="Shape 54"/>
          <p:cNvSpPr/>
          <p:nvPr/>
        </p:nvSpPr>
        <p:spPr>
          <a:xfrm>
            <a:off x="10706100" y="7296150"/>
            <a:ext cx="7086600" cy="1557710"/>
          </a:xfrm>
          <a:prstGeom prst="roundRect">
            <a:avLst>
              <a:gd name="adj" fmla="val 7338"/>
            </a:avLst>
          </a:prstGeom>
          <a:solidFill>
            <a:srgbClr val="EAF7EF"/>
          </a:solidFill>
        </p:spPr>
        <p:txBody>
          <a:bodyPr/>
          <a:lstStyle/>
          <a:p>
            <a:endParaRPr lang="en-US"/>
          </a:p>
        </p:txBody>
      </p:sp>
      <p:sp>
        <p:nvSpPr>
          <p:cNvPr id="58" name="Text 55"/>
          <p:cNvSpPr/>
          <p:nvPr/>
        </p:nvSpPr>
        <p:spPr>
          <a:xfrm>
            <a:off x="10915650" y="7467600"/>
            <a:ext cx="7334250" cy="25241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b="1" kern="0" spc="113" dirty="0">
                <a:solidFill>
                  <a:srgbClr val="1D6B4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HUMAN IN THE LOOP</a:t>
            </a:r>
            <a:endParaRPr lang="en-US" sz="1500" dirty="0"/>
          </a:p>
        </p:txBody>
      </p:sp>
      <p:sp>
        <p:nvSpPr>
          <p:cNvPr id="59" name="Text 56"/>
          <p:cNvSpPr/>
          <p:nvPr/>
        </p:nvSpPr>
        <p:spPr>
          <a:xfrm>
            <a:off x="10915650" y="7777163"/>
            <a:ext cx="6867525" cy="943347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dirty="0">
                <a:solidFill>
                  <a:srgbClr val="1D6B4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observes → analyses → recommends. The caregiver or healthcare worker </a:t>
            </a:r>
            <a:r>
              <a:rPr lang="en-US" sz="1800" b="1" dirty="0">
                <a:solidFill>
                  <a:srgbClr val="1D6B4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approves or modifies </a:t>
            </a:r>
            <a:r>
              <a:rPr lang="en-US" sz="1800" dirty="0">
                <a:solidFill>
                  <a:srgbClr val="1D6B4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. The system supports clinicians; it does not replace them.</a:t>
            </a:r>
            <a:endParaRPr lang="en-US" sz="1800" dirty="0"/>
          </a:p>
        </p:txBody>
      </p:sp>
      <p:sp>
        <p:nvSpPr>
          <p:cNvPr id="60" name="Shape 57"/>
          <p:cNvSpPr/>
          <p:nvPr/>
        </p:nvSpPr>
        <p:spPr>
          <a:xfrm>
            <a:off x="0" y="9534525"/>
            <a:ext cx="18288000" cy="752475"/>
          </a:xfrm>
          <a:prstGeom prst="rect">
            <a:avLst/>
          </a:prstGeom>
          <a:solidFill>
            <a:srgbClr val="0070C0"/>
          </a:solidFill>
        </p:spPr>
        <p:txBody>
          <a:bodyPr/>
          <a:lstStyle/>
          <a:p>
            <a:endParaRPr lang="en-US"/>
          </a:p>
        </p:txBody>
      </p:sp>
      <p:sp>
        <p:nvSpPr>
          <p:cNvPr id="61" name="Text 58"/>
          <p:cNvSpPr/>
          <p:nvPr/>
        </p:nvSpPr>
        <p:spPr>
          <a:xfrm>
            <a:off x="4276725" y="9771380"/>
            <a:ext cx="10496550" cy="3416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TESSERACT — Cognitive Gaming for Elderly &amp; Dementia Care</a:t>
            </a:r>
            <a:endParaRPr lang="en-US" sz="2400" dirty="0">
              <a:solidFill>
                <a:srgbClr val="FFFFFF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sp>
        <p:nvSpPr>
          <p:cNvPr id="62" name="Text 59"/>
          <p:cNvSpPr/>
          <p:nvPr/>
        </p:nvSpPr>
        <p:spPr>
          <a:xfrm>
            <a:off x="17779826" y="9779794"/>
            <a:ext cx="203374" cy="3000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Tesseract Badge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95300" y="509080"/>
            <a:ext cx="2210000" cy="791590"/>
          </a:xfrm>
          <a:prstGeom prst="rect">
            <a:avLst/>
          </a:prstGeom>
        </p:spPr>
      </p:pic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4687550" y="19050"/>
            <a:ext cx="3371850" cy="15906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62250" y="361950"/>
            <a:ext cx="7001016" cy="67151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1F3864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IMPACT AND BENEFITS</a:t>
            </a:r>
            <a:endParaRPr lang="en-US" sz="4350" dirty="0"/>
          </a:p>
        </p:txBody>
      </p:sp>
      <p:sp>
        <p:nvSpPr>
          <p:cNvPr id="6" name="Text 3"/>
          <p:cNvSpPr/>
          <p:nvPr/>
        </p:nvSpPr>
        <p:spPr>
          <a:xfrm>
            <a:off x="2781300" y="1028700"/>
            <a:ext cx="8676189" cy="3333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b="1" u="sng" dirty="0">
                <a:solidFill>
                  <a:srgbClr val="0070C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Potential impact on the target audience · Benefits of the solution</a:t>
            </a:r>
            <a:endParaRPr lang="en-US" sz="2025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rcRect l="9327" r="9327"/>
          <a:stretch>
            <a:fillRect/>
          </a:stretch>
        </p:blipFill>
        <p:spPr>
          <a:xfrm>
            <a:off x="495300" y="1809750"/>
            <a:ext cx="4000500" cy="30099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95300" y="4953000"/>
            <a:ext cx="4000500" cy="908298"/>
          </a:xfrm>
          <a:prstGeom prst="roundRect">
            <a:avLst>
              <a:gd name="adj" fmla="val 12584"/>
            </a:avLst>
          </a:prstGeom>
          <a:solidFill>
            <a:srgbClr val="EAF4FC"/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685800" y="5105400"/>
            <a:ext cx="3739515" cy="64159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dirty="0">
                <a:solidFill>
                  <a:srgbClr val="134E7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patient is supported, not tested — warm language, familiar content.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4724400" y="1809750"/>
            <a:ext cx="4203650" cy="4210571"/>
          </a:xfrm>
          <a:prstGeom prst="roundRect">
            <a:avLst>
              <a:gd name="adj" fmla="val 3172"/>
            </a:avLst>
          </a:prstGeom>
          <a:solidFill>
            <a:srgbClr val="FFFFFF"/>
          </a:solidFill>
          <a:ln w="9525">
            <a:solidFill>
              <a:srgbClr val="DCE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4733925" y="1819275"/>
            <a:ext cx="4184600" cy="552450"/>
          </a:xfrm>
          <a:prstGeom prst="rect">
            <a:avLst/>
          </a:prstGeom>
          <a:solidFill>
            <a:srgbClr val="E8930C"/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4943475" y="1952625"/>
            <a:ext cx="3891038" cy="3238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Patient</a:t>
            </a:r>
            <a:endParaRPr lang="en-US" sz="1950" dirty="0"/>
          </a:p>
        </p:txBody>
      </p:sp>
      <p:sp>
        <p:nvSpPr>
          <p:cNvPr id="13" name="Text 9"/>
          <p:cNvSpPr/>
          <p:nvPr/>
        </p:nvSpPr>
        <p:spPr>
          <a:xfrm>
            <a:off x="4973955" y="2543175"/>
            <a:ext cx="3811220" cy="30188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160020" indent="-160020" algn="l">
              <a:lnSpc>
                <a:spcPct val="12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2231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Play in their own language</a:t>
            </a:r>
            <a:endParaRPr lang="en-US" sz="1800" dirty="0"/>
          </a:p>
          <a:p>
            <a:pPr marL="160020" indent="-160020" algn="l">
              <a:lnSpc>
                <a:spcPct val="12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2231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Games built from their own people and places</a:t>
            </a:r>
            <a:endParaRPr lang="en-US" sz="1800" dirty="0"/>
          </a:p>
          <a:p>
            <a:pPr marL="160020" indent="-160020" algn="l">
              <a:lnSpc>
                <a:spcPct val="12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2231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Medicine, hydration and routine reminders</a:t>
            </a:r>
            <a:endParaRPr lang="en-US" sz="1800" dirty="0"/>
          </a:p>
          <a:p>
            <a:pPr marL="160020" indent="-160020" algn="l">
              <a:lnSpc>
                <a:spcPct val="12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2231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Difficulty that meets them where they are</a:t>
            </a:r>
            <a:endParaRPr lang="en-US" sz="1800" dirty="0"/>
          </a:p>
          <a:p>
            <a:pPr marL="160020" indent="-160020" algn="l">
              <a:lnSpc>
                <a:spcPct val="12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2231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Encouragement instead of scores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9156650" y="1809750"/>
            <a:ext cx="4203725" cy="4210571"/>
          </a:xfrm>
          <a:prstGeom prst="roundRect">
            <a:avLst>
              <a:gd name="adj" fmla="val 3172"/>
            </a:avLst>
          </a:prstGeom>
          <a:solidFill>
            <a:srgbClr val="FFFFFF"/>
          </a:solidFill>
          <a:ln w="9525">
            <a:solidFill>
              <a:srgbClr val="DCE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9166175" y="1819275"/>
            <a:ext cx="4184675" cy="552450"/>
          </a:xfrm>
          <a:prstGeom prst="rect">
            <a:avLst/>
          </a:prstGeom>
          <a:solidFill>
            <a:srgbClr val="0070C0"/>
          </a:solidFill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9375725" y="1952625"/>
            <a:ext cx="3891115" cy="3238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Caregiver</a:t>
            </a:r>
            <a:endParaRPr lang="en-US" sz="1950" dirty="0"/>
          </a:p>
        </p:txBody>
      </p:sp>
      <p:sp>
        <p:nvSpPr>
          <p:cNvPr id="17" name="Text 13"/>
          <p:cNvSpPr/>
          <p:nvPr/>
        </p:nvSpPr>
        <p:spPr>
          <a:xfrm>
            <a:off x="9406205" y="2543175"/>
            <a:ext cx="3811295" cy="2387947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160020" indent="-160020" algn="l">
              <a:lnSpc>
                <a:spcPct val="12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2231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One clear recommendation a day</a:t>
            </a:r>
            <a:endParaRPr lang="en-US" sz="1800" dirty="0"/>
          </a:p>
          <a:p>
            <a:pPr marL="160020" indent="-160020" algn="l">
              <a:lnSpc>
                <a:spcPct val="12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2231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Completion, engagement, 7- and 30-day trends</a:t>
            </a:r>
            <a:endParaRPr lang="en-US" sz="1800" dirty="0"/>
          </a:p>
          <a:p>
            <a:pPr marL="160020" indent="-160020" algn="l">
              <a:lnSpc>
                <a:spcPct val="12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2231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Reminders handled by the app</a:t>
            </a:r>
            <a:endParaRPr lang="en-US" sz="1800" dirty="0"/>
          </a:p>
          <a:p>
            <a:pPr marL="160020" indent="-160020" algn="l">
              <a:lnSpc>
                <a:spcPct val="12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2231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 place to record observations</a:t>
            </a:r>
            <a:endParaRPr lang="en-US" sz="1800" dirty="0"/>
          </a:p>
          <a:p>
            <a:pPr marL="160020" indent="-160020" algn="l">
              <a:lnSpc>
                <a:spcPct val="12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2231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Personalisation they control</a:t>
            </a:r>
            <a:endParaRPr lang="en-US" sz="1800" dirty="0"/>
          </a:p>
        </p:txBody>
      </p:sp>
      <p:sp>
        <p:nvSpPr>
          <p:cNvPr id="18" name="Shape 14"/>
          <p:cNvSpPr/>
          <p:nvPr/>
        </p:nvSpPr>
        <p:spPr>
          <a:xfrm>
            <a:off x="13588975" y="1809750"/>
            <a:ext cx="4203725" cy="4210571"/>
          </a:xfrm>
          <a:prstGeom prst="roundRect">
            <a:avLst>
              <a:gd name="adj" fmla="val 3172"/>
            </a:avLst>
          </a:prstGeom>
          <a:solidFill>
            <a:srgbClr val="FFFFFF"/>
          </a:solidFill>
          <a:ln w="9525">
            <a:solidFill>
              <a:srgbClr val="DCE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13598500" y="1819275"/>
            <a:ext cx="4184675" cy="552450"/>
          </a:xfrm>
          <a:prstGeom prst="rect">
            <a:avLst/>
          </a:prstGeom>
          <a:solidFill>
            <a:srgbClr val="2E9E5B"/>
          </a:solidFill>
        </p:spPr>
        <p:txBody>
          <a:bodyPr/>
          <a:lstStyle/>
          <a:p>
            <a:endParaRPr lang="en-US"/>
          </a:p>
        </p:txBody>
      </p:sp>
      <p:sp>
        <p:nvSpPr>
          <p:cNvPr id="2" name="Text 16"/>
          <p:cNvSpPr/>
          <p:nvPr/>
        </p:nvSpPr>
        <p:spPr>
          <a:xfrm>
            <a:off x="13808050" y="1952625"/>
            <a:ext cx="3891115" cy="3238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Healthcare Worker</a:t>
            </a:r>
            <a:endParaRPr lang="en-US" sz="1950" dirty="0"/>
          </a:p>
        </p:txBody>
      </p:sp>
      <p:sp>
        <p:nvSpPr>
          <p:cNvPr id="21" name="Text 17"/>
          <p:cNvSpPr/>
          <p:nvPr/>
        </p:nvSpPr>
        <p:spPr>
          <a:xfrm>
            <a:off x="13838530" y="2543175"/>
            <a:ext cx="3811295" cy="3334271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160020" indent="-160020" algn="l">
              <a:lnSpc>
                <a:spcPct val="12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2231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Longitudinal indicators between visits</a:t>
            </a:r>
            <a:endParaRPr lang="en-US" sz="1800" dirty="0"/>
          </a:p>
          <a:p>
            <a:pPr marL="160020" indent="-160020" algn="l">
              <a:lnSpc>
                <a:spcPct val="12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2231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Strongest and hardest activities at a glance</a:t>
            </a:r>
            <a:endParaRPr lang="en-US" sz="1800" dirty="0"/>
          </a:p>
          <a:p>
            <a:pPr marL="160020" indent="-160020" algn="l">
              <a:lnSpc>
                <a:spcPct val="12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2231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Caregiver observations on the same record</a:t>
            </a:r>
            <a:endParaRPr lang="en-US" sz="1800" dirty="0"/>
          </a:p>
          <a:p>
            <a:pPr marL="160020" indent="-160020" algn="l">
              <a:lnSpc>
                <a:spcPct val="12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2231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Approve or modify every AI recommendation</a:t>
            </a:r>
            <a:endParaRPr lang="en-US" sz="1800" dirty="0"/>
          </a:p>
          <a:p>
            <a:pPr marL="160020" indent="-160020" algn="l">
              <a:lnSpc>
                <a:spcPct val="12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2231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 shared view across a caseload</a:t>
            </a:r>
            <a:endParaRPr lang="en-US" sz="1800" dirty="0"/>
          </a:p>
        </p:txBody>
      </p:sp>
      <p:sp>
        <p:nvSpPr>
          <p:cNvPr id="22" name="Shape 18"/>
          <p:cNvSpPr/>
          <p:nvPr/>
        </p:nvSpPr>
        <p:spPr>
          <a:xfrm>
            <a:off x="495300" y="6667500"/>
            <a:ext cx="17297400" cy="1671638"/>
          </a:xfrm>
          <a:prstGeom prst="roundRect">
            <a:avLst>
              <a:gd name="adj" fmla="val 7977"/>
            </a:avLst>
          </a:prstGeom>
          <a:solidFill>
            <a:srgbClr val="F7F9FC"/>
          </a:solidFill>
          <a:ln w="9525">
            <a:solidFill>
              <a:srgbClr val="DCE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733425" y="6848475"/>
            <a:ext cx="18503265" cy="25241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b="1" kern="0" spc="113" dirty="0">
                <a:solidFill>
                  <a:srgbClr val="7A8AA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SYSTEM-LEVEL IMPACT</a:t>
            </a:r>
            <a:endParaRPr lang="en-US" sz="1500" dirty="0"/>
          </a:p>
        </p:txBody>
      </p:sp>
      <p:sp>
        <p:nvSpPr>
          <p:cNvPr id="24" name="Shape 20"/>
          <p:cNvSpPr/>
          <p:nvPr/>
        </p:nvSpPr>
        <p:spPr>
          <a:xfrm>
            <a:off x="733425" y="7177088"/>
            <a:ext cx="2776017" cy="433388"/>
          </a:xfrm>
          <a:prstGeom prst="roundRect">
            <a:avLst>
              <a:gd name="adj" fmla="val 48352"/>
            </a:avLst>
          </a:prstGeom>
          <a:solidFill>
            <a:srgbClr val="FFFFFF"/>
          </a:solidFill>
          <a:ln w="9525">
            <a:solidFill>
              <a:srgbClr val="DCE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933450" y="7262813"/>
            <a:ext cx="2459247" cy="3000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F386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NER-ready deployment</a:t>
            </a:r>
            <a:endParaRPr lang="en-US" sz="1800" dirty="0"/>
          </a:p>
        </p:txBody>
      </p:sp>
      <p:sp>
        <p:nvSpPr>
          <p:cNvPr id="26" name="Shape 22"/>
          <p:cNvSpPr/>
          <p:nvPr/>
        </p:nvSpPr>
        <p:spPr>
          <a:xfrm>
            <a:off x="3623742" y="7177088"/>
            <a:ext cx="3089225" cy="433388"/>
          </a:xfrm>
          <a:prstGeom prst="roundRect">
            <a:avLst>
              <a:gd name="adj" fmla="val 48352"/>
            </a:avLst>
          </a:prstGeom>
          <a:solidFill>
            <a:srgbClr val="FFFFFF"/>
          </a:solidFill>
          <a:ln w="9525">
            <a:solidFill>
              <a:srgbClr val="DCE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/>
          <p:nvPr/>
        </p:nvSpPr>
        <p:spPr>
          <a:xfrm>
            <a:off x="3823767" y="7262813"/>
            <a:ext cx="2781852" cy="3000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F386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Works without connectivity</a:t>
            </a:r>
            <a:endParaRPr lang="en-US" sz="1800" dirty="0"/>
          </a:p>
        </p:txBody>
      </p:sp>
      <p:sp>
        <p:nvSpPr>
          <p:cNvPr id="28" name="Shape 24"/>
          <p:cNvSpPr/>
          <p:nvPr/>
        </p:nvSpPr>
        <p:spPr>
          <a:xfrm>
            <a:off x="6827267" y="7177088"/>
            <a:ext cx="3792364" cy="433388"/>
          </a:xfrm>
          <a:prstGeom prst="roundRect">
            <a:avLst>
              <a:gd name="adj" fmla="val 48352"/>
            </a:avLst>
          </a:prstGeom>
          <a:solidFill>
            <a:srgbClr val="FFFFFF"/>
          </a:solidFill>
          <a:ln w="9525">
            <a:solidFill>
              <a:srgbClr val="DCE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5"/>
          <p:cNvSpPr/>
          <p:nvPr/>
        </p:nvSpPr>
        <p:spPr>
          <a:xfrm>
            <a:off x="7027292" y="7262813"/>
            <a:ext cx="3506085" cy="3000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F386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Extensible multilingual framework</a:t>
            </a:r>
            <a:endParaRPr lang="en-US" sz="1800" dirty="0"/>
          </a:p>
        </p:txBody>
      </p:sp>
      <p:sp>
        <p:nvSpPr>
          <p:cNvPr id="30" name="Shape 26"/>
          <p:cNvSpPr/>
          <p:nvPr/>
        </p:nvSpPr>
        <p:spPr>
          <a:xfrm>
            <a:off x="10733931" y="7177088"/>
            <a:ext cx="3234035" cy="433388"/>
          </a:xfrm>
          <a:prstGeom prst="roundRect">
            <a:avLst>
              <a:gd name="adj" fmla="val 48352"/>
            </a:avLst>
          </a:prstGeom>
          <a:solidFill>
            <a:srgbClr val="FFFFFF"/>
          </a:solidFill>
          <a:ln w="9525">
            <a:solidFill>
              <a:srgbClr val="DCE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7"/>
          <p:cNvSpPr/>
          <p:nvPr/>
        </p:nvSpPr>
        <p:spPr>
          <a:xfrm>
            <a:off x="10933956" y="7262813"/>
            <a:ext cx="2931006" cy="3000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F386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Culturally adaptable content</a:t>
            </a:r>
            <a:endParaRPr lang="en-US" sz="1800" dirty="0"/>
          </a:p>
        </p:txBody>
      </p:sp>
      <p:sp>
        <p:nvSpPr>
          <p:cNvPr id="32" name="Shape 28"/>
          <p:cNvSpPr/>
          <p:nvPr/>
        </p:nvSpPr>
        <p:spPr>
          <a:xfrm>
            <a:off x="733425" y="7724775"/>
            <a:ext cx="3831059" cy="433388"/>
          </a:xfrm>
          <a:prstGeom prst="roundRect">
            <a:avLst>
              <a:gd name="adj" fmla="val 48352"/>
            </a:avLst>
          </a:prstGeom>
          <a:solidFill>
            <a:srgbClr val="FFFFFF"/>
          </a:solidFill>
          <a:ln w="9525">
            <a:solidFill>
              <a:srgbClr val="DCE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/>
          <p:nvPr/>
        </p:nvSpPr>
        <p:spPr>
          <a:xfrm>
            <a:off x="933450" y="7810500"/>
            <a:ext cx="3545941" cy="3000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F386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Scales to new games and regions</a:t>
            </a:r>
            <a:endParaRPr lang="en-US" sz="1800" dirty="0"/>
          </a:p>
        </p:txBody>
      </p:sp>
      <p:sp>
        <p:nvSpPr>
          <p:cNvPr id="34" name="Shape 30"/>
          <p:cNvSpPr/>
          <p:nvPr/>
        </p:nvSpPr>
        <p:spPr>
          <a:xfrm>
            <a:off x="4678784" y="7724775"/>
            <a:ext cx="3170188" cy="433388"/>
          </a:xfrm>
          <a:prstGeom prst="roundRect">
            <a:avLst>
              <a:gd name="adj" fmla="val 48352"/>
            </a:avLst>
          </a:prstGeom>
          <a:solidFill>
            <a:srgbClr val="FFFFFF"/>
          </a:solidFill>
          <a:ln w="9525">
            <a:solidFill>
              <a:srgbClr val="DCE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1"/>
          <p:cNvSpPr/>
          <p:nvPr/>
        </p:nvSpPr>
        <p:spPr>
          <a:xfrm>
            <a:off x="4878809" y="7810500"/>
            <a:ext cx="2865244" cy="3000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F386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Low-cost Android hardware</a:t>
            </a:r>
            <a:endParaRPr lang="en-US" sz="1800" dirty="0"/>
          </a:p>
        </p:txBody>
      </p:sp>
      <p:sp>
        <p:nvSpPr>
          <p:cNvPr id="36" name="Shape 32"/>
          <p:cNvSpPr/>
          <p:nvPr/>
        </p:nvSpPr>
        <p:spPr>
          <a:xfrm>
            <a:off x="7963272" y="7724775"/>
            <a:ext cx="3855616" cy="433388"/>
          </a:xfrm>
          <a:prstGeom prst="roundRect">
            <a:avLst>
              <a:gd name="adj" fmla="val 48352"/>
            </a:avLst>
          </a:prstGeom>
          <a:solidFill>
            <a:srgbClr val="FFFFFF"/>
          </a:solidFill>
          <a:ln w="9525">
            <a:solidFill>
              <a:srgbClr val="DCE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3"/>
          <p:cNvSpPr/>
          <p:nvPr/>
        </p:nvSpPr>
        <p:spPr>
          <a:xfrm>
            <a:off x="8163297" y="7810500"/>
            <a:ext cx="3571234" cy="3000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F386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Supports NPHCE community care</a:t>
            </a:r>
            <a:endParaRPr lang="en-US" sz="1800" dirty="0"/>
          </a:p>
        </p:txBody>
      </p:sp>
      <p:sp>
        <p:nvSpPr>
          <p:cNvPr id="38" name="Shape 34"/>
          <p:cNvSpPr/>
          <p:nvPr/>
        </p:nvSpPr>
        <p:spPr>
          <a:xfrm>
            <a:off x="495300" y="8496300"/>
            <a:ext cx="17297400" cy="762000"/>
          </a:xfrm>
          <a:prstGeom prst="roundRect">
            <a:avLst>
              <a:gd name="adj" fmla="val 17500"/>
            </a:avLst>
          </a:prstGeom>
          <a:solidFill>
            <a:srgbClr val="0070C0"/>
          </a:solidFill>
        </p:spPr>
        <p:txBody>
          <a:bodyPr/>
          <a:lstStyle/>
          <a:p>
            <a:endParaRPr lang="en-US"/>
          </a:p>
        </p:txBody>
      </p:sp>
      <p:sp>
        <p:nvSpPr>
          <p:cNvPr id="39" name="Text 35"/>
          <p:cNvSpPr/>
          <p:nvPr/>
        </p:nvSpPr>
        <p:spPr>
          <a:xfrm>
            <a:off x="235839" y="8496300"/>
            <a:ext cx="17816322" cy="800100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550" b="1" kern="0" spc="75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Personalized. Adaptive. Offline-first. Caregiver-guided.</a:t>
            </a:r>
            <a:endParaRPr lang="en-US" sz="2550" dirty="0"/>
          </a:p>
        </p:txBody>
      </p:sp>
      <p:sp>
        <p:nvSpPr>
          <p:cNvPr id="40" name="Shape 36"/>
          <p:cNvSpPr/>
          <p:nvPr/>
        </p:nvSpPr>
        <p:spPr>
          <a:xfrm>
            <a:off x="0" y="9534525"/>
            <a:ext cx="18288000" cy="752475"/>
          </a:xfrm>
          <a:prstGeom prst="rect">
            <a:avLst/>
          </a:prstGeom>
          <a:solidFill>
            <a:srgbClr val="0070C0"/>
          </a:solidFill>
        </p:spPr>
        <p:txBody>
          <a:bodyPr/>
          <a:lstStyle/>
          <a:p>
            <a:endParaRPr lang="en-US"/>
          </a:p>
        </p:txBody>
      </p:sp>
      <p:sp>
        <p:nvSpPr>
          <p:cNvPr id="41" name="Text 37"/>
          <p:cNvSpPr/>
          <p:nvPr/>
        </p:nvSpPr>
        <p:spPr>
          <a:xfrm>
            <a:off x="4998720" y="9643745"/>
            <a:ext cx="9309735" cy="6426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TESSERACT — Cognitive Gaming for Elderly &amp; Dementia Care</a:t>
            </a:r>
            <a:endParaRPr lang="en-US" sz="2400" dirty="0">
              <a:solidFill>
                <a:srgbClr val="FFFFFF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sp>
        <p:nvSpPr>
          <p:cNvPr id="42" name="Text 38"/>
          <p:cNvSpPr/>
          <p:nvPr/>
        </p:nvSpPr>
        <p:spPr>
          <a:xfrm>
            <a:off x="17779826" y="9779794"/>
            <a:ext cx="203374" cy="3000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Tesseract Badge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95300" y="509080"/>
            <a:ext cx="2210000" cy="791590"/>
          </a:xfrm>
          <a:prstGeom prst="rect">
            <a:avLst/>
          </a:prstGeom>
        </p:spPr>
      </p:pic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4687550" y="19050"/>
            <a:ext cx="3371850" cy="15906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62250" y="361950"/>
            <a:ext cx="9049613" cy="67151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1F3864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RESEARCH AND REFERENCES</a:t>
            </a:r>
            <a:endParaRPr lang="en-US" sz="4350" dirty="0"/>
          </a:p>
        </p:txBody>
      </p:sp>
      <p:sp>
        <p:nvSpPr>
          <p:cNvPr id="6" name="Text 3"/>
          <p:cNvSpPr/>
          <p:nvPr/>
        </p:nvSpPr>
        <p:spPr>
          <a:xfrm>
            <a:off x="2781300" y="1028700"/>
            <a:ext cx="6682026" cy="3333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b="1" u="sng" dirty="0">
                <a:solidFill>
                  <a:srgbClr val="0070C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Details / Links of the reference and research work</a:t>
            </a:r>
            <a:endParaRPr lang="en-US" sz="2025" dirty="0"/>
          </a:p>
        </p:txBody>
      </p:sp>
      <p:sp>
        <p:nvSpPr>
          <p:cNvPr id="7" name="Shape 4"/>
          <p:cNvSpPr/>
          <p:nvPr/>
        </p:nvSpPr>
        <p:spPr>
          <a:xfrm>
            <a:off x="495300" y="1809750"/>
            <a:ext cx="8515350" cy="3358009"/>
          </a:xfrm>
          <a:prstGeom prst="roundRect">
            <a:avLst>
              <a:gd name="adj" fmla="val 3971"/>
            </a:avLst>
          </a:prstGeom>
          <a:solidFill>
            <a:srgbClr val="F7F9FC"/>
          </a:solidFill>
          <a:ln w="9525">
            <a:solidFill>
              <a:srgbClr val="DCE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33425" y="2009775"/>
            <a:ext cx="8843010" cy="3238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070C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Epidemiology and burden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733425" y="2428875"/>
            <a:ext cx="8280273" cy="101188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800" dirty="0">
                <a:solidFill>
                  <a:srgbClr val="2231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Lee J. et al. </a:t>
            </a:r>
            <a:r>
              <a:rPr lang="en-US" sz="1800" i="1" dirty="0">
                <a:solidFill>
                  <a:srgbClr val="2231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Prevalence of dementia in India (LASI-DAD). </a:t>
            </a:r>
            <a:r>
              <a:rPr lang="en-US" sz="1800" dirty="0">
                <a:solidFill>
                  <a:srgbClr val="2231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Alzheimer’s &amp; Dementia, 2023 — 7.4% of adults 60+, and 7.35% across the North Eastern states excluding Assam. </a:t>
            </a:r>
            <a:r>
              <a:rPr lang="en-US" sz="1800" u="sng" dirty="0">
                <a:solidFill>
                  <a:srgbClr val="0070C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hlinkClick r:id="rId3"/>
              </a:rPr>
              <a:t>doi:10.1002/alz.12928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33425" y="3536007"/>
            <a:ext cx="8280273" cy="68728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800" dirty="0">
                <a:solidFill>
                  <a:srgbClr val="2231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World Health Organization. </a:t>
            </a:r>
            <a:r>
              <a:rPr lang="en-US" sz="1800" i="1" dirty="0">
                <a:solidFill>
                  <a:srgbClr val="2231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Dementia — fact sheet. </a:t>
            </a:r>
            <a:r>
              <a:rPr lang="en-US" sz="1800" u="sng" dirty="0">
                <a:solidFill>
                  <a:srgbClr val="0070C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hlinkClick r:id="rId4"/>
              </a:rPr>
              <a:t>who.int/news-room/fact-sheets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33425" y="4318546"/>
            <a:ext cx="8280273" cy="68728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800" dirty="0">
                <a:solidFill>
                  <a:srgbClr val="2231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Alzheimer’s and Related Disorders Society of India. </a:t>
            </a:r>
            <a:r>
              <a:rPr lang="en-US" sz="1800" i="1" dirty="0">
                <a:solidFill>
                  <a:srgbClr val="2231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Dementia India Report. </a:t>
            </a:r>
            <a:r>
              <a:rPr lang="en-US" sz="1800" u="sng" dirty="0">
                <a:solidFill>
                  <a:srgbClr val="0070C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hlinkClick r:id="rId5"/>
              </a:rPr>
              <a:t>ardsi.org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495300" y="5339209"/>
            <a:ext cx="8515350" cy="3033415"/>
          </a:xfrm>
          <a:prstGeom prst="roundRect">
            <a:avLst>
              <a:gd name="adj" fmla="val 4396"/>
            </a:avLst>
          </a:prstGeom>
          <a:solidFill>
            <a:srgbClr val="F7F9FC"/>
          </a:solidFill>
          <a:ln w="9525">
            <a:solidFill>
              <a:srgbClr val="DCE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33425" y="5539234"/>
            <a:ext cx="8843010" cy="3238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2E9E5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Clinical and programme context</a:t>
            </a:r>
            <a:endParaRPr lang="en-US" sz="1950" dirty="0"/>
          </a:p>
        </p:txBody>
      </p:sp>
      <p:sp>
        <p:nvSpPr>
          <p:cNvPr id="14" name="Text 11"/>
          <p:cNvSpPr/>
          <p:nvPr/>
        </p:nvSpPr>
        <p:spPr>
          <a:xfrm>
            <a:off x="733425" y="5958334"/>
            <a:ext cx="8280273" cy="101188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800" dirty="0">
                <a:solidFill>
                  <a:srgbClr val="2231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Woods B. et al. </a:t>
            </a:r>
            <a:r>
              <a:rPr lang="en-US" sz="1800" i="1" dirty="0">
                <a:solidFill>
                  <a:srgbClr val="2231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Cognitive stimulation to improve cognitive functioning in people with dementia. </a:t>
            </a:r>
            <a:r>
              <a:rPr lang="en-US" sz="1800" dirty="0">
                <a:solidFill>
                  <a:srgbClr val="2231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Cochrane Database of Systematic Reviews. </a:t>
            </a:r>
            <a:r>
              <a:rPr lang="en-US" sz="1800" u="sng" dirty="0">
                <a:solidFill>
                  <a:srgbClr val="0070C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hlinkClick r:id="rId6"/>
              </a:rPr>
              <a:t>doi:10.1002/14651858.CD005562.pub3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733425" y="7065466"/>
            <a:ext cx="8843010" cy="362694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800" dirty="0">
                <a:solidFill>
                  <a:srgbClr val="2231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WHO. </a:t>
            </a:r>
            <a:r>
              <a:rPr lang="en-US" sz="1800" i="1" dirty="0">
                <a:solidFill>
                  <a:srgbClr val="2231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Global action plan on the public health response to dementia.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733425" y="7523411"/>
            <a:ext cx="8280273" cy="68728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800" dirty="0">
                <a:solidFill>
                  <a:srgbClr val="2231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MoHFW, Government of India. </a:t>
            </a:r>
            <a:r>
              <a:rPr lang="en-US" sz="1800" i="1" dirty="0">
                <a:solidFill>
                  <a:srgbClr val="2231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National Programme for Health Care of the Elderly (NPHCE).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9277350" y="1809750"/>
            <a:ext cx="8515350" cy="2819400"/>
          </a:xfrm>
          <a:prstGeom prst="roundRect">
            <a:avLst>
              <a:gd name="adj" fmla="val 4730"/>
            </a:avLst>
          </a:prstGeom>
          <a:solidFill>
            <a:srgbClr val="F7F9FC"/>
          </a:solidFill>
          <a:ln w="9525">
            <a:solidFill>
              <a:srgbClr val="DCE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9515475" y="2009775"/>
            <a:ext cx="8843010" cy="3238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E8930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Technical documentation</a:t>
            </a:r>
            <a:endParaRPr lang="en-US" sz="1950" dirty="0"/>
          </a:p>
        </p:txBody>
      </p:sp>
      <p:sp>
        <p:nvSpPr>
          <p:cNvPr id="19" name="Text 16"/>
          <p:cNvSpPr/>
          <p:nvPr/>
        </p:nvSpPr>
        <p:spPr>
          <a:xfrm>
            <a:off x="9515475" y="2428875"/>
            <a:ext cx="8280273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3000"/>
              </a:lnSpc>
              <a:buNone/>
            </a:pPr>
            <a:r>
              <a:rPr lang="en-US" sz="1800" dirty="0">
                <a:solidFill>
                  <a:srgbClr val="2231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Flutter — </a:t>
            </a:r>
            <a:r>
              <a:rPr lang="en-US" sz="1800" u="sng" dirty="0">
                <a:solidFill>
                  <a:srgbClr val="0070C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hlinkClick r:id="rId7"/>
              </a:rPr>
              <a:t>flutter.dev </a:t>
            </a:r>
            <a:r>
              <a:rPr lang="en-US" sz="1800" dirty="0">
                <a:solidFill>
                  <a:srgbClr val="2231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· Flame — </a:t>
            </a:r>
            <a:r>
              <a:rPr lang="en-US" sz="1800" u="sng" dirty="0">
                <a:solidFill>
                  <a:srgbClr val="0070C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hlinkClick r:id="rId8"/>
              </a:rPr>
              <a:t>flame-engine.org</a:t>
            </a:r>
            <a:endParaRPr lang="en-US" sz="1800" dirty="0"/>
          </a:p>
        </p:txBody>
      </p:sp>
      <p:sp>
        <p:nvSpPr>
          <p:cNvPr id="2" name="Text 17"/>
          <p:cNvSpPr/>
          <p:nvPr/>
        </p:nvSpPr>
        <p:spPr>
          <a:xfrm>
            <a:off x="9515475" y="2828925"/>
            <a:ext cx="8280273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3000"/>
              </a:lnSpc>
              <a:buNone/>
            </a:pPr>
            <a:r>
              <a:rPr lang="en-US" sz="1800" dirty="0">
                <a:solidFill>
                  <a:srgbClr val="2231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Phaser — </a:t>
            </a:r>
            <a:r>
              <a:rPr lang="en-US" sz="1800" u="sng" dirty="0">
                <a:solidFill>
                  <a:srgbClr val="0070C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hlinkClick r:id="rId9"/>
              </a:rPr>
              <a:t>phaser.io </a:t>
            </a:r>
            <a:r>
              <a:rPr lang="en-US" sz="1800" dirty="0">
                <a:solidFill>
                  <a:srgbClr val="2231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· Godot — </a:t>
            </a:r>
            <a:r>
              <a:rPr lang="en-US" sz="1800" u="sng" dirty="0">
                <a:solidFill>
                  <a:srgbClr val="0070C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hlinkClick r:id="rId10"/>
              </a:rPr>
              <a:t>godotengine.org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9515475" y="3228975"/>
            <a:ext cx="8280273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3000"/>
              </a:lnSpc>
              <a:buNone/>
            </a:pPr>
            <a:r>
              <a:rPr lang="en-US" sz="1800" dirty="0">
                <a:solidFill>
                  <a:srgbClr val="2231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FastAPI — </a:t>
            </a:r>
            <a:r>
              <a:rPr lang="en-US" sz="1800" u="sng" dirty="0">
                <a:solidFill>
                  <a:srgbClr val="0070C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hlinkClick r:id="rId11"/>
              </a:rPr>
              <a:t>fastapi.tiangolo.com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9515475" y="3629025"/>
            <a:ext cx="8280273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3000"/>
              </a:lnSpc>
              <a:buNone/>
            </a:pPr>
            <a:r>
              <a:rPr lang="en-US" sz="1800" dirty="0">
                <a:solidFill>
                  <a:srgbClr val="2231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PostgreSQL — </a:t>
            </a:r>
            <a:r>
              <a:rPr lang="en-US" sz="1800" u="sng" dirty="0">
                <a:solidFill>
                  <a:srgbClr val="0070C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hlinkClick r:id="rId12"/>
              </a:rPr>
              <a:t>postgresql.org </a:t>
            </a:r>
            <a:r>
              <a:rPr lang="en-US" sz="1800" dirty="0">
                <a:solidFill>
                  <a:srgbClr val="2231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· SQLite — </a:t>
            </a:r>
            <a:r>
              <a:rPr lang="en-US" sz="1800" u="sng" dirty="0">
                <a:solidFill>
                  <a:srgbClr val="0070C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hlinkClick r:id="rId13"/>
              </a:rPr>
              <a:t>sqlite.org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9515475" y="4029075"/>
            <a:ext cx="8280273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3000"/>
              </a:lnSpc>
              <a:buNone/>
            </a:pPr>
            <a:r>
              <a:rPr lang="en-US" sz="1800" dirty="0">
                <a:solidFill>
                  <a:srgbClr val="2231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Hive — </a:t>
            </a:r>
            <a:r>
              <a:rPr lang="en-US" sz="1800" u="sng" dirty="0">
                <a:solidFill>
                  <a:srgbClr val="0070C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hlinkClick r:id="rId14"/>
              </a:rPr>
              <a:t>pub.dev/packages/hive </a:t>
            </a:r>
            <a:r>
              <a:rPr lang="en-US" sz="1800" dirty="0">
                <a:solidFill>
                  <a:srgbClr val="2231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· Firebase — </a:t>
            </a:r>
            <a:r>
              <a:rPr lang="en-US" sz="1800" u="sng" dirty="0">
                <a:solidFill>
                  <a:srgbClr val="0070C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hlinkClick r:id="rId15"/>
              </a:rPr>
              <a:t>firebase.google.com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9277350" y="4800600"/>
            <a:ext cx="8515350" cy="2250877"/>
          </a:xfrm>
          <a:prstGeom prst="roundRect">
            <a:avLst>
              <a:gd name="adj" fmla="val 5924"/>
            </a:avLst>
          </a:prstGeom>
          <a:solidFill>
            <a:srgbClr val="F7F9FC"/>
          </a:solidFill>
          <a:ln w="9525">
            <a:solidFill>
              <a:srgbClr val="DCE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9515475" y="5000625"/>
            <a:ext cx="8843010" cy="3238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44546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Accessibility and design guidance</a:t>
            </a:r>
            <a:endParaRPr lang="en-US" sz="1950" dirty="0"/>
          </a:p>
        </p:txBody>
      </p:sp>
      <p:sp>
        <p:nvSpPr>
          <p:cNvPr id="26" name="Text 23"/>
          <p:cNvSpPr/>
          <p:nvPr/>
        </p:nvSpPr>
        <p:spPr>
          <a:xfrm>
            <a:off x="9515475" y="5419725"/>
            <a:ext cx="8280273" cy="68728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800" dirty="0">
                <a:solidFill>
                  <a:srgbClr val="2231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W3C. </a:t>
            </a:r>
            <a:r>
              <a:rPr lang="en-US" sz="1800" i="1" dirty="0">
                <a:solidFill>
                  <a:srgbClr val="2231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Web Content Accessibility Guidelines (WCAG) 2.2 </a:t>
            </a:r>
            <a:r>
              <a:rPr lang="en-US" sz="1800" dirty="0">
                <a:solidFill>
                  <a:srgbClr val="2231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— contrast, target size and timing criteria applied to the patient interface. </a:t>
            </a:r>
            <a:r>
              <a:rPr lang="en-US" sz="1800" u="sng" dirty="0">
                <a:solidFill>
                  <a:srgbClr val="0070C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hlinkClick r:id="rId16"/>
              </a:rPr>
              <a:t>w3.org/TR/WCAG22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9515475" y="6202263"/>
            <a:ext cx="8280273" cy="68728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800" dirty="0">
                <a:solidFill>
                  <a:srgbClr val="2231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Reference imagery illustrates interaction concepts only; final artwork will be original and produced with caregiver input.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9277350" y="7222927"/>
            <a:ext cx="8515350" cy="1237283"/>
          </a:xfrm>
          <a:prstGeom prst="roundRect">
            <a:avLst>
              <a:gd name="adj" fmla="val 7698"/>
            </a:avLst>
          </a:prstGeom>
          <a:solidFill>
            <a:srgbClr val="EAF4FC"/>
          </a:solidFill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9277350" y="7222927"/>
            <a:ext cx="76200" cy="1237283"/>
          </a:xfrm>
          <a:prstGeom prst="rect">
            <a:avLst/>
          </a:prstGeom>
          <a:solidFill>
            <a:srgbClr val="0070C0"/>
          </a:solidFill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9563100" y="7375327"/>
            <a:ext cx="8275511" cy="97058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800" dirty="0">
                <a:solidFill>
                  <a:srgbClr val="134E7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platform reports app-level cognitive performance indicators derived from gameplay. It does not diagnose dementia and does not replace clinical assessment.</a:t>
            </a:r>
            <a:endParaRPr lang="en-US" sz="1800" dirty="0"/>
          </a:p>
        </p:txBody>
      </p:sp>
      <p:sp>
        <p:nvSpPr>
          <p:cNvPr id="31" name="Shape 28"/>
          <p:cNvSpPr/>
          <p:nvPr/>
        </p:nvSpPr>
        <p:spPr>
          <a:xfrm>
            <a:off x="0" y="9534525"/>
            <a:ext cx="18288000" cy="752475"/>
          </a:xfrm>
          <a:prstGeom prst="rect">
            <a:avLst/>
          </a:prstGeom>
          <a:solidFill>
            <a:srgbClr val="0070C0"/>
          </a:solidFill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4962525" y="9716770"/>
            <a:ext cx="9301480" cy="5359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TESSERACT — Cognitive Gaming for Elderly &amp; Dementia Care</a:t>
            </a:r>
            <a:endParaRPr lang="en-US" sz="2400" dirty="0">
              <a:solidFill>
                <a:srgbClr val="FFFFFF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17779826" y="9779794"/>
            <a:ext cx="203374" cy="3000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7332</Words>
  <Application>WPS Presentation</Application>
  <PresentationFormat>Custom</PresentationFormat>
  <Paragraphs>393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0" baseType="lpstr">
      <vt:lpstr>Arial</vt:lpstr>
      <vt:lpstr>SimSun</vt:lpstr>
      <vt:lpstr>Wingdings</vt:lpstr>
      <vt:lpstr>Times New Roman</vt:lpstr>
      <vt:lpstr>Times New Roman</vt:lpstr>
      <vt:lpstr>Times New Roman</vt:lpstr>
      <vt:lpstr>Arial</vt:lpstr>
      <vt:lpstr>Arial</vt:lpstr>
      <vt:lpstr>Calibri</vt:lpstr>
      <vt:lpstr>Microsoft YaHei</vt:lpstr>
      <vt:lpstr>Arial Unicode MS</vt:lpstr>
      <vt:lpstr>Aptos</vt:lpstr>
      <vt:lpstr>Segoe UI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KAKULAVARAM JASWANTH REDDY KAK</cp:lastModifiedBy>
  <cp:revision>4</cp:revision>
  <cp:lastPrinted>2026-09-01T09:26:00Z</cp:lastPrinted>
  <dcterms:created xsi:type="dcterms:W3CDTF">2026-09-01T05:15:00Z</dcterms:created>
  <dcterms:modified xsi:type="dcterms:W3CDTF">2026-09-02T13:56:39Z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23BE5AE61E1A4D3487E0186587B3B628_12</vt:lpwstr>
  </property>
</Properties>
</file>